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Diagnostic</c:v>
                </c:pt>
              </c:strCache>
            </c:strRef>
          </c:tx>
          <c:spPr>
            <a:solidFill>
              <a:srgbClr val="00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3200</c:v>
                </c:pt>
                <c:pt idx="1">
                  <c:v>4100</c:v>
                </c:pt>
                <c:pt idx="2">
                  <c:v>3800</c:v>
                </c:pt>
                <c:pt idx="3">
                  <c:v>5200</c:v>
                </c:pt>
                <c:pt idx="4">
                  <c:v>4800</c:v>
                </c:pt>
                <c:pt idx="5">
                  <c:v>6100</c:v>
                </c:pt>
                <c:pt idx="6">
                  <c:v>4500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Imagerie</c:v>
                </c:pt>
              </c:strCache>
            </c:strRef>
          </c:tx>
          <c:spPr>
            <a:solidFill>
              <a:srgbClr val="00A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2100</c:v>
                </c:pt>
                <c:pt idx="1">
                  <c:v>2400</c:v>
                </c:pt>
                <c:pt idx="2">
                  <c:v>2800</c:v>
                </c:pt>
                <c:pt idx="3">
                  <c:v>3100</c:v>
                </c:pt>
                <c:pt idx="4">
                  <c:v>2900</c:v>
                </c:pt>
                <c:pt idx="5">
                  <c:v>3500</c:v>
                </c:pt>
                <c:pt idx="6">
                  <c:v>2700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Mobilier</c:v>
                </c:pt>
              </c:strCache>
            </c:strRef>
          </c:tx>
          <c:spPr>
            <a:solidFill>
              <a:srgbClr val="33B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1500</c:v>
                </c:pt>
                <c:pt idx="1">
                  <c:v>1800</c:v>
                </c:pt>
                <c:pt idx="2">
                  <c:v>2200</c:v>
                </c:pt>
                <c:pt idx="3">
                  <c:v>2400</c:v>
                </c:pt>
                <c:pt idx="4">
                  <c:v>2600</c:v>
                </c:pt>
                <c:pt idx="5">
                  <c:v>2900</c:v>
                </c:pt>
                <c:pt idx="6">
                  <c:v>2100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Ventes</c:v>
                </c:pt>
              </c:strCache>
            </c:strRef>
          </c:tx>
          <c:spPr>
            <a:solidFill>
              <a:srgbClr val="00A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3D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3850</c:v>
                </c:pt>
                <c:pt idx="1">
                  <c:v>4220</c:v>
                </c:pt>
                <c:pt idx="2">
                  <c:v>3960</c:v>
                </c:pt>
                <c:pt idx="3">
                  <c:v>5380</c:v>
                </c:pt>
                <c:pt idx="4">
                  <c:v>4920</c:v>
                </c:pt>
                <c:pt idx="5">
                  <c:v>6240</c:v>
                </c:pt>
                <c:pt idx="6">
                  <c:v>4660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3D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Diagnostic</c:v>
                </c:pt>
              </c:strCache>
            </c:strRef>
          </c:tx>
          <c:spPr>
            <a:solidFill>
              <a:srgbClr val="003D5C"/>
            </a:solidFill>
            <a:ln w="31750" cap="flat">
              <a:solidFill>
                <a:srgbClr val="003D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D5C"/>
              </a:solidFill>
              <a:ln w="9525" cap="flat">
                <a:solidFill>
                  <a:srgbClr val="003D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S-4</c:v>
                  </c:pt>
                  <c:pt idx="1">
                    <c:v>S-3</c:v>
                  </c:pt>
                  <c:pt idx="2">
                    <c:v>S-2</c:v>
                  </c:pt>
                  <c:pt idx="3">
                    <c:v>S-1</c:v>
                  </c:pt>
                  <c:pt idx="4">
                    <c:v>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248</c:v>
                </c:pt>
                <c:pt idx="1">
                  <c:v>262</c:v>
                </c:pt>
                <c:pt idx="2">
                  <c:v>254</c:v>
                </c:pt>
                <c:pt idx="3">
                  <c:v>281</c:v>
                </c:pt>
                <c:pt idx="4">
                  <c:v>296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Imagerie</c:v>
                </c:pt>
              </c:strCache>
            </c:strRef>
          </c:tx>
          <c:spPr>
            <a:solidFill>
              <a:srgbClr val="00A8B5"/>
            </a:solidFill>
            <a:ln w="31750" cap="flat">
              <a:solidFill>
                <a:srgbClr val="00A8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B5"/>
              </a:solidFill>
              <a:ln w="9525" cap="flat">
                <a:solidFill>
                  <a:srgbClr val="00A8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S-4</c:v>
                  </c:pt>
                  <c:pt idx="1">
                    <c:v>S-3</c:v>
                  </c:pt>
                  <c:pt idx="2">
                    <c:v>S-2</c:v>
                  </c:pt>
                  <c:pt idx="3">
                    <c:v>S-1</c:v>
                  </c:pt>
                  <c:pt idx="4">
                    <c:v>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412</c:v>
                </c:pt>
                <c:pt idx="1">
                  <c:v>398</c:v>
                </c:pt>
                <c:pt idx="2">
                  <c:v>425</c:v>
                </c:pt>
                <c:pt idx="3">
                  <c:v>419</c:v>
                </c:pt>
                <c:pt idx="4">
                  <c:v>442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Mobilier</c:v>
                </c:pt>
              </c:strCache>
            </c:strRef>
          </c:tx>
          <c:spPr>
            <a:solidFill>
              <a:srgbClr val="33BFC9"/>
            </a:solidFill>
            <a:ln w="31750" cap="flat">
              <a:solidFill>
                <a:srgbClr val="33BF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BFC9"/>
              </a:solidFill>
              <a:ln w="9525" cap="flat">
                <a:solidFill>
                  <a:srgbClr val="33BF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S-4</c:v>
                  </c:pt>
                  <c:pt idx="1">
                    <c:v>S-3</c:v>
                  </c:pt>
                  <c:pt idx="2">
                    <c:v>S-2</c:v>
                  </c:pt>
                  <c:pt idx="3">
                    <c:v>S-1</c:v>
                  </c:pt>
                  <c:pt idx="4">
                    <c:v>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187</c:v>
                </c:pt>
                <c:pt idx="1">
                  <c:v>192</c:v>
                </c:pt>
                <c:pt idx="2">
                  <c:v>205</c:v>
                </c:pt>
                <c:pt idx="3">
                  <c:v>198</c:v>
                </c:pt>
                <c:pt idx="4">
                  <c:v>213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4-1.png"/><Relationship Id="rId3" Type="http://schemas.openxmlformats.org/officeDocument/2006/relationships/image" Target="../media/image-24-2.png"/><Relationship Id="rId4" Type="http://schemas.openxmlformats.org/officeDocument/2006/relationships/image" Target="../media/image-2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3840480" cy="3840480"/>
          </a:xfrm>
          <a:prstGeom prst="ellipse">
            <a:avLst/>
          </a:prstGeom>
          <a:solidFill>
            <a:srgbClr val="00A8B5">
              <a:alpha val="30000"/>
            </a:srgbClr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2743200" cy="2743200"/>
          </a:xfrm>
          <a:prstGeom prst="ellipse">
            <a:avLst/>
          </a:prstGeom>
          <a:solidFill>
            <a:srgbClr val="33BFC9">
              <a:alpha val="20000"/>
            </a:srgbClr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62495" y="1828800"/>
            <a:ext cx="5029200" cy="5029200"/>
          </a:xfrm>
          <a:prstGeom prst="ellipse">
            <a:avLst/>
          </a:prstGeom>
          <a:solidFill>
            <a:srgbClr val="003D5C">
              <a:alpha val="0"/>
            </a:srgbClr>
          </a:solidFill>
          <a:ln w="9525">
            <a:solidFill>
              <a:srgbClr val="33BFC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13232"/>
            <a:ext cx="118872" cy="118872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48640" cy="36576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FINAL  •  AVRIL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D4F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 e-commerce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•  Sécurité  •  Optimisation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85455" y="5074920"/>
            <a:ext cx="3566160" cy="1005840"/>
          </a:xfrm>
          <a:prstGeom prst="rect">
            <a:avLst/>
          </a:prstGeom>
          <a:solidFill>
            <a:srgbClr val="003D5C"/>
          </a:solidFill>
          <a:ln w="9525">
            <a:solidFill>
              <a:srgbClr val="33BFC9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335" y="5230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MÉDICAL DE POINTE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68335" y="5504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·  Back-office complet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68335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Stripe &amp; PayPal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33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présentation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201168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dirty="0">
                <a:solidFill>
                  <a:srgbClr val="B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2560320" y="2286000"/>
            <a:ext cx="307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Identité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560320" y="2743200"/>
            <a:ext cx="3078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client, objectifs du projet, sitemap, layout et charte graphique.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60320" y="3383280"/>
            <a:ext cx="307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→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272888" cy="2011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22402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dirty="0">
                <a:solidFill>
                  <a:srgbClr val="0E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600" dirty="0"/>
          </a:p>
        </p:txBody>
      </p:sp>
      <p:sp>
        <p:nvSpPr>
          <p:cNvPr id="11" name="Text 9"/>
          <p:cNvSpPr/>
          <p:nvPr/>
        </p:nvSpPr>
        <p:spPr>
          <a:xfrm>
            <a:off x="8198968" y="2286000"/>
            <a:ext cx="307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98968" y="2743200"/>
            <a:ext cx="3078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compte à la commande : inscription, connexion, navigation, recherche et checkout.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98968" y="3383280"/>
            <a:ext cx="307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 → 23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272888" cy="2011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17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dirty="0">
                <a:solidFill>
                  <a:srgbClr val="0E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600" dirty="0"/>
          </a:p>
        </p:txBody>
      </p:sp>
      <p:sp>
        <p:nvSpPr>
          <p:cNvPr id="16" name="Text 14"/>
          <p:cNvSpPr/>
          <p:nvPr/>
        </p:nvSpPr>
        <p:spPr>
          <a:xfrm>
            <a:off x="2560320" y="4663440"/>
            <a:ext cx="307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560320" y="5120640"/>
            <a:ext cx="3078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internes : dashboard, gestion produits, commandes, factures et utilisateurs.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5760720"/>
            <a:ext cx="307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24 → 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78728" y="4251960"/>
            <a:ext cx="5272888" cy="201168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8768" y="4617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dirty="0">
                <a:solidFill>
                  <a:srgbClr val="B5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600" dirty="0"/>
          </a:p>
        </p:txBody>
      </p:sp>
      <p:sp>
        <p:nvSpPr>
          <p:cNvPr id="21" name="Text 19"/>
          <p:cNvSpPr/>
          <p:nvPr/>
        </p:nvSpPr>
        <p:spPr>
          <a:xfrm>
            <a:off x="8198968" y="4663440"/>
            <a:ext cx="307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Livrables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198968" y="5120640"/>
            <a:ext cx="3078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Internationalisation, accessibilité, sécurité, stack et documentation à livrer.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8968" y="5760720"/>
            <a:ext cx="307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31 → 33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d'Althea Systems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i="1" dirty="0">
                <a:solidFill>
                  <a:srgbClr val="00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Althea Systems est une entreprise spécialisée dans la vente de matériel de pointe pour cabinets médicaux.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présent, nos produits étaient commercialisés via un réseau de distribution et nos équipes commerciales. Pour faciliter l'accès à notre catalogue et capter de nouveaux marchés internationaux, nous lançons une refonte complète de notre plateforme e-commerce.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45720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8920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0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Une expérience d'achat fluide et moderne, en adéquation avec les attentes actuelles du marché. 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53935" y="1874520"/>
            <a:ext cx="4297680" cy="12344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53935" y="1874520"/>
            <a:ext cx="73152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415" y="2167128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79815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79815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253935" y="3273552"/>
            <a:ext cx="4297680" cy="12344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53935" y="3273552"/>
            <a:ext cx="73152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415" y="35661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79815" y="3547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579815" y="38221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Back-office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253935" y="4672584"/>
            <a:ext cx="4297680" cy="12344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53935" y="4672584"/>
            <a:ext cx="73152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15" y="4965192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79815" y="4946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VISÉ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579815" y="52212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défis principaux du projet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288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272888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848" y="22128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92608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sécurisée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3337560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solutions de paiement en ligne robustes (Stripe / PayPal) et garantir la confidentialité des données.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3008" y="1828800"/>
            <a:ext cx="527288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33008" y="1828800"/>
            <a:ext cx="5272888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0208" y="21488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212848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90208" y="292608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 fluide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690208" y="3337560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accessibilité optimale sur desktop &amp; mobile, avec une approche mobile-first.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297680"/>
            <a:ext cx="527288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4297680"/>
            <a:ext cx="5272888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0" y="46177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48" y="468172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539496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complet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097280" y="5806440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à l'équipe interne de gérer produits, commandes, factures et utilisateurs.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33008" y="4297680"/>
            <a:ext cx="527288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33008" y="4297680"/>
            <a:ext cx="5272888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90208" y="46177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775" y="4681728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90208" y="539496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&amp; maintenabilité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690208" y="5806440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pensée pour intégrer de nouvelles fonctionnalités sur le long terme.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— Organisation du site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8477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484778" cy="777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299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93392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principales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29535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7889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32278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34107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32461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60120" y="36850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" y="38679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37033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41422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0" y="43251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41605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60120" y="45994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0120" y="47823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8720" y="46177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60120" y="50566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0120" y="52395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50749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353458" y="1828800"/>
            <a:ext cx="348477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53458" y="1828800"/>
            <a:ext cx="3484778" cy="777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78" y="2029968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30698" y="1993392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de commande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673498" y="29535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02098" y="27889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673498" y="32278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73498" y="34107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02098" y="32461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73498" y="36850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673498" y="38679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02098" y="37033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8066837" y="1828800"/>
            <a:ext cx="348477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066837" y="1828800"/>
            <a:ext cx="3484778" cy="777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029968"/>
            <a:ext cx="384048" cy="38404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844077" y="1993392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utilisateur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8386877" y="29535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615477" y="27889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endParaRPr lang="en-US" sz="1250" dirty="0"/>
          </a:p>
        </p:txBody>
      </p:sp>
      <p:sp>
        <p:nvSpPr>
          <p:cNvPr id="43" name="Shape 38"/>
          <p:cNvSpPr/>
          <p:nvPr/>
        </p:nvSpPr>
        <p:spPr>
          <a:xfrm>
            <a:off x="8386877" y="32278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386877" y="34107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615477" y="32461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8386877" y="36850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386877" y="38679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615477" y="37033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commandes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8386877" y="41422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8386877" y="43251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615477" y="41605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</a:t>
            </a:r>
            <a:endParaRPr lang="en-US" sz="1250" dirty="0"/>
          </a:p>
        </p:txBody>
      </p:sp>
      <p:sp>
        <p:nvSpPr>
          <p:cNvPr id="52" name="Shape 47"/>
          <p:cNvSpPr/>
          <p:nvPr/>
        </p:nvSpPr>
        <p:spPr>
          <a:xfrm>
            <a:off x="8386877" y="4599432"/>
            <a:ext cx="284469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386877" y="4782312"/>
            <a:ext cx="109728" cy="10972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615477" y="46177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250" dirty="0"/>
          </a:p>
        </p:txBody>
      </p:sp>
      <p:sp>
        <p:nvSpPr>
          <p:cNvPr id="55" name="Shape 50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général de chaque page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51206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19659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9659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5120640" cy="73152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134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350008"/>
            <a:ext cx="1828800" cy="329184"/>
          </a:xfrm>
          <a:prstGeom prst="rect">
            <a:avLst/>
          </a:prstGeom>
          <a:solidFill>
            <a:srgbClr val="0E5577"/>
          </a:solidFill>
          <a:ln w="12700">
            <a:solidFill>
              <a:srgbClr val="0E557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40487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0" y="23500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77440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2926080"/>
            <a:ext cx="5120640" cy="256032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29260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 de contenu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40080" y="5486400"/>
            <a:ext cx="5120640" cy="50292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486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  •  Mentions légales  •  Contact  •  Réseaux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63640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63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949440" y="192024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persistant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949440" y="224028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barre de recherche, panier, menu burger.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63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949440" y="288036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contenu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949440" y="320040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Produits, formulaires, informations contextuelles.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63640" y="38404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949440" y="384048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 de page (desktop)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949440" y="416052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CGU, mentions légales, contact, réseaux sociaux.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263640" y="48006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63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949440" y="4800600"/>
            <a:ext cx="4510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949440" y="512064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mobile, le pied de page est intégré au menu de l'en-tête.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— Couleurs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2501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CTA, LIENS, BADGES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#00A8B5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02254" y="1828800"/>
            <a:ext cx="2625014" cy="16916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6574" y="20574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76574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#D4F4F7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64428" y="1828800"/>
            <a:ext cx="2625014" cy="1691640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8748" y="20574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38748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#33BFC9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926601" y="1828800"/>
            <a:ext cx="2625014" cy="16916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0921" y="205740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&amp; NAVIGATION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200921" y="301752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#003D5C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262501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02254" y="3794760"/>
            <a:ext cx="262501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6574" y="402336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76574" y="498348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64428" y="3794760"/>
            <a:ext cx="262501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8748" y="4023360"/>
            <a:ext cx="21678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38748" y="498348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26601" y="3794760"/>
            <a:ext cx="2625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PRODUITS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26601" y="4160520"/>
            <a:ext cx="262501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8041" y="4160520"/>
            <a:ext cx="2442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En stock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26601" y="4489704"/>
            <a:ext cx="262501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18041" y="4489704"/>
            <a:ext cx="2442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Stock faible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26601" y="4818888"/>
            <a:ext cx="262501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18041" y="4818888"/>
            <a:ext cx="2442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Rupture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26601" y="5148072"/>
            <a:ext cx="2625014" cy="2743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18041" y="5148072"/>
            <a:ext cx="2442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 Nouveau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&amp; Logos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8521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231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265176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SemiBold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5176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les titres de sections, les headers et la navigation.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8521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265176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DE TEXTE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4617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 400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paragraphes et descriptions.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2240280"/>
            <a:ext cx="2255368" cy="16916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423160"/>
            <a:ext cx="225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644" y="283464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3566160"/>
            <a:ext cx="225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3D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Icône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296248" y="2240280"/>
            <a:ext cx="2255368" cy="16916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6248" y="2423160"/>
            <a:ext cx="225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568" y="288036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164928" y="2834640"/>
            <a:ext cx="1340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10164928" y="3127248"/>
            <a:ext cx="1340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9296248" y="3566160"/>
            <a:ext cx="225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complet horizontal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858000" y="411480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logo s'adapte au format du terminal pour une lisibilité optimale.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des utilisateurs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Création de compte simple, intuitive et sécurisée, conforme RGPD et aux recommandations CNIL.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complet, e-mail valide, mot de passe respectant les critères de sécurité.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temps réel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automatiques côté client et serveur, messages d'erreur clairs.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confirmation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unique sécurisé valide 24 h, indispensable pour activer le compte.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automatique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validation, l'utilisateur est connecté et redirigé vers son tableau de bord.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RGPD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sensibles, règles de force du mot de passe appliquées.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&amp; mot de passe oublié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de connexion sécurisée avec gestion des erreurs, redirection intelligente et récupération de mot de passe.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standard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et mot de passe, redirection vers le tableau de bord ou la page demandée.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5868" y="228600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28600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1628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1628" y="278892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1628" y="315468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ou mot de passe incorrect : message clair et lien vers récupération.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0332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non confirmé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57200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à vérifier la boîte e-mail ou contacter le support si nécessaire.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55868" y="370332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5868" y="370332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1628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1628" y="4206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 contextuelle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1628" y="457200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Renvoi automatique vers la page privée demandée après authentification.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2064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 souvenir de moi »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98932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session pour éviter une nouvelle connexion à chaque visite.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55868" y="512064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5868" y="512064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1628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1628" y="562356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21628" y="598932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avec lien sécurisé valide 24 h pour réinitialiser le mot de passe.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du compte utilisateur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dédiée pour gérer ses informations personnelles, ses adresses et ses moyens de paiement en toute sécurité.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personnelles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complet, e-mail (avec validation), mot de passe (avec confirmation de l'ancien).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d'adresses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Ajout, modification, suppression des adresses de facturation et de livraison.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de paiement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cartes enregistrées, suppression et choix d'une carte par défaut.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achats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commandes en cours, terminées, et possibilité de renouveler un achat.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chiffrées (PCI-DSS), validations supplémentaires pour les changements sensibles.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Vitrine de la marque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0E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et porte d'entrée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5120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Première impression et porte d'entrée vers le catalogue. Entièrement personnalisable depuis le back-office, du carrousel hero au pied de page.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06640" y="1828800"/>
            <a:ext cx="4144975" cy="72786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828800"/>
            <a:ext cx="54864" cy="72786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828800"/>
            <a:ext cx="640080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1965960"/>
            <a:ext cx="3184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en 3 parties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286000"/>
            <a:ext cx="3184855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et liens promotionnels modifiables, ordre ajustable.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721254"/>
            <a:ext cx="4144975" cy="72786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721254"/>
            <a:ext cx="54864" cy="72786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2721254"/>
            <a:ext cx="640080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858414"/>
            <a:ext cx="3184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fixe sous le carrousel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3178454"/>
            <a:ext cx="3184855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éditable pour annonces, descriptions ou news.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3613709"/>
            <a:ext cx="4144975" cy="72786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613709"/>
            <a:ext cx="54864" cy="72786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3613709"/>
            <a:ext cx="640080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75320" y="3750869"/>
            <a:ext cx="3184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catégories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4070909"/>
            <a:ext cx="3184855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visuels vers les catégories, image et ordre personnalisables.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4506163"/>
            <a:ext cx="4144975" cy="72786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4506163"/>
            <a:ext cx="54864" cy="72786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4506163"/>
            <a:ext cx="640080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75320" y="4643323"/>
            <a:ext cx="3184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Top Produits du moment 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4963363"/>
            <a:ext cx="3184855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mise en avant via le back-office.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5398618"/>
            <a:ext cx="4144975" cy="72786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5398618"/>
            <a:ext cx="54864" cy="727862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5398618"/>
            <a:ext cx="640080" cy="727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75320" y="5535778"/>
            <a:ext cx="3184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 de page complet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5855818"/>
            <a:ext cx="3184855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CGU, mentions légales, contact, réseaux. Replié sur mobile.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d'accès au catalogue de produits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d'accès principal aux produits par catégorie, avec un affichage adapté au terminal.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564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2556434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2556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description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20077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Surimpression du nom de catégorie, description introductive sous l'image.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5114" y="2286000"/>
            <a:ext cx="25564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5114" y="2286000"/>
            <a:ext cx="2556434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5114" y="2651760"/>
            <a:ext cx="2556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699434" y="3977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/ Grille adaptative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9434" y="4480560"/>
            <a:ext cx="20077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responsive : liste verticale sur smartphone, grille sur desktop.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0148" y="2286000"/>
            <a:ext cx="25564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0148" y="2286000"/>
            <a:ext cx="2556434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0148" y="2651760"/>
            <a:ext cx="2556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484468" y="3977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produit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4468" y="4480560"/>
            <a:ext cx="20077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prix, mention « En rupture de stock » avec affichage grisé si indisponible.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5181" y="2286000"/>
            <a:ext cx="2556434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5181" y="2286000"/>
            <a:ext cx="2556434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5181" y="2651760"/>
            <a:ext cx="25564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269501" y="3977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intelligent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69501" y="4480560"/>
            <a:ext cx="200779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prioritaires d'abord, puis les autres, et enfin les produits en rupture.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produit — Conversion &amp; détail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clé pour la conversion : informations détaillées, sécurité, et CTA visible pour l'achat.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d'illustrations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vues / photographies du produit pour une présentation immersive.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description, caractéristiques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principales et caractéristiques techniques détaillées.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&amp; disponibilité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bien visible, mention « Rupture de stock » si indisponible.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dynamique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Ajouter au panier » désactivé si le produit n'est pas disponible.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produits similaires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Tirés aléatoirement de la même catégorie, en priorisant les disponibles.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 — Facettes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page de recherche puissante, accessible depuis l'en-tête, pour filtrer le catalogue selon plusieurs critères.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du titre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nom de produit avec règles de priorité avancées.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5868" y="228600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5868" y="228600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1628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1628" y="278892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de la description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1628" y="315468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sur les fonctionnalités mentionnées dans les descriptions.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0332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57200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par spécificités techniques du produit.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55868" y="370332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5868" y="370332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1628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1628" y="4206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Intervalle de prix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1628" y="457200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Bornes minimum et maximum pour rester dans le budget.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5295748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120640"/>
            <a:ext cx="54864" cy="11887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&amp; disponibilité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989320"/>
            <a:ext cx="474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Restreindre par type et masquer les ruptures de stock.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Tri, priorité &amp; performance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CORRESPONDANCE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exacte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7157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parfait priorisé.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caractère différent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5844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aux fautes de frappe.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par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45312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Préfixes du texte recherché.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5321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présent ailleurs dans la chaîne.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0" y="187452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RÉSULTATS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331720"/>
            <a:ext cx="560801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450592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83680" y="233172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83680" y="233172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/ Desc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0" y="2971800"/>
            <a:ext cx="560801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090672"/>
            <a:ext cx="310896" cy="31089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583680" y="297180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83680" y="297180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d'ajout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943600" y="3611880"/>
            <a:ext cx="560801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30752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583680" y="3611880"/>
            <a:ext cx="4876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583680" y="361188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943600" y="4526280"/>
            <a:ext cx="5608015" cy="150876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17920" y="470916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17920" y="498348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3600" dirty="0"/>
          </a:p>
        </p:txBody>
      </p:sp>
      <p:sp>
        <p:nvSpPr>
          <p:cNvPr id="37" name="Text 32"/>
          <p:cNvSpPr/>
          <p:nvPr/>
        </p:nvSpPr>
        <p:spPr>
          <a:xfrm>
            <a:off x="6217920" y="5532120"/>
            <a:ext cx="5059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en temps réel, même après modification dans le back-office.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du panier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Récapitulatif des produits avant commande, accessible aux utilisateurs connectés ou non.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produits ajoutés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quantité, prix unitaire et prix total. Modification ou suppression directe.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total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en temps réel du montant TTC à chaque modification.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universelle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invité ; rappel pour créer un compte avant le paiement.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« Passer à la caisse »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visible en bas du panier pour finaliser la commande.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indisponibilités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en rupture marqué clairement, total ajusté, retrait possible.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•  ÉTAPE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ou inscription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" y="2148840"/>
            <a:ext cx="1008857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-31238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05124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512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1550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3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3386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0891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089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71269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272888" cy="274320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56616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51560" y="42976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51560" y="457200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ses identifiants existants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051560" y="50749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retrouve ses adresses et moyens de paiement enregistrés.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51560" y="5573268"/>
            <a:ext cx="64008" cy="640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88720" y="5532120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e-mail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51560" y="5692140"/>
            <a:ext cx="64008" cy="640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5650992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51560" y="5811012"/>
            <a:ext cx="64008" cy="640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5769864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 souvenir de moi »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278728" y="3200400"/>
            <a:ext cx="5272888" cy="274320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3566160"/>
            <a:ext cx="640080" cy="6400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90208" y="42976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RAPIDE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690208" y="457200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en cours de checkout</a:t>
            </a:r>
            <a:endParaRPr lang="en-US" sz="1900" dirty="0"/>
          </a:p>
        </p:txBody>
      </p:sp>
      <p:sp>
        <p:nvSpPr>
          <p:cNvPr id="32" name="Text 28"/>
          <p:cNvSpPr/>
          <p:nvPr/>
        </p:nvSpPr>
        <p:spPr>
          <a:xfrm>
            <a:off x="6690208" y="50749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poursuite en tant qu'invité, le compte est créé après pour la gestion.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690208" y="5573268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27368" y="5532120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690208" y="5692140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27368" y="5650992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valide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690208" y="5811012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27368" y="5769864"/>
            <a:ext cx="435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sécurisé (RGPD)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•  ÉTAPE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facturation / livraison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" y="2148840"/>
            <a:ext cx="1008857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2727884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31238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5124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12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1550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386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0891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089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1269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4572000" cy="274320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777240" cy="777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51560" y="4617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D'ADRESSES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" y="4892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nouvelle ou une enregistrée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51560" y="5394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peut entrer une nouvelle adresse ou choisir parmi celles déjà enregistrées dans son compte.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77840" y="3200400"/>
            <a:ext cx="5973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DU FORMULAIRE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77840" y="361188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361188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14818" y="361188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97698" y="361188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51797" y="361188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34677" y="361188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443484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60720" y="443484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2 (optionnel)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614818" y="443484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97698" y="443484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651797" y="443484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34677" y="443484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577840" y="525780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60720" y="525780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postal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614818" y="525780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97698" y="525780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651797" y="5257800"/>
            <a:ext cx="1899818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34677" y="5257800"/>
            <a:ext cx="1534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mobile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•  ÉTAPE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— Stripe &amp; PayPal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" y="2148840"/>
            <a:ext cx="1008857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5455768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31238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5124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12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1550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386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0891" y="1874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089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1269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4297680" cy="274320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777240" cy="7772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51560" y="4663440"/>
            <a:ext cx="1371600" cy="36576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156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aux normes de paiement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1560" y="5440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complet, conformité aux standards internationaux.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12080" y="320040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DE PAIEMENT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394960" y="3749040"/>
            <a:ext cx="2834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32120" y="3749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sur la carte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94960" y="4251960"/>
            <a:ext cx="2834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(16 chiffres)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394960" y="4754880"/>
            <a:ext cx="2834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4754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d'expiration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394960" y="5257800"/>
            <a:ext cx="2834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32120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 (3 chiffres)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686800" y="3200400"/>
            <a:ext cx="2864815" cy="128016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15400" y="338328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915400" y="370332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complète et internationale.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686800" y="4663440"/>
            <a:ext cx="2864815" cy="1280160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15400" y="48463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915400" y="5166360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par compte PayPal ou carte enregistrée.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•  ÉTAPE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&amp; facture PDF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" y="2148840"/>
            <a:ext cx="1008857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8183651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-31238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5124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512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15502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386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0891" y="1874520"/>
            <a:ext cx="548640" cy="548640"/>
          </a:xfrm>
          <a:prstGeom prst="ellipse">
            <a:avLst/>
          </a:prstGeom>
          <a:solidFill>
            <a:srgbClr val="00A8B5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0891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1269" y="2514600"/>
            <a:ext cx="2727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594360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 COMMANDE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5840" y="4210812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40690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achetés, prix unitaires &amp; taxes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05840" y="4558284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88720" y="441655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facturation choisie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05840" y="4905756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88720" y="476402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paiement utilisé (4 derniers chiffres)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05840" y="5253228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51114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Confirmer l'achat »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005840" y="560070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88720" y="54589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confirmation envoyé automatiquement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58000" y="3200400"/>
            <a:ext cx="4693615" cy="128016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383280"/>
            <a:ext cx="411480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635240" y="338328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PDF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7086600" y="388620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d'une facture téléchargeable et imprimable au format PDF.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858000" y="4663440"/>
            <a:ext cx="4693615" cy="128016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84632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635240" y="484632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&amp; AVOIR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086600" y="5349240"/>
            <a:ext cx="4236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facture est supprimée, un avoir est créé automatiquement.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commandes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dédiée listant toutes les commandes passées, regroupées par année pour une consultation simplifiée.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par année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regroupées chronologiquement, de la plus récente à la plus ancienne.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 chaque commande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mode de paiement (4 derniers chiffres), adresse, lien de téléchargement facture.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année et type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par catégorie, voir uniquement les commandes actives ou résiliées.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commande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par nom de produit ou par date pour retrouver rapidement un achat.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 facture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commande dispose d'un lien pour télécharger sa facture au format PDF.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Outils — Contact &amp; Chatbot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pour tous les utilisateurs, connectés ou non. Centralisé dans le back-office pour le suivi.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0120" y="3474720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474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e-mail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60120" y="3977640"/>
            <a:ext cx="4480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977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du message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60120" y="4480560"/>
            <a:ext cx="4480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4805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du message…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60120" y="5486400"/>
            <a:ext cx="1463040" cy="4114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486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1965960"/>
            <a:ext cx="4693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 + CHATBOT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1264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720840" y="2633472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720840" y="2944368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modification d'adresse, méthodes de paiement…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126480" y="3493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720840" y="347472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vers un humain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720840" y="3785616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bot ne peut pas répondre, transfert à un agent du support.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12648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720840" y="4315968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d'informations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720840" y="4626864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et sujet capturés pour accélérer le traitement.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126480" y="5175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720840" y="5157216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enregistrées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720840" y="5468112"/>
            <a:ext cx="4785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interactions sont accessibles dans le back-office.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Indicateurs clés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56434" cy="137160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0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DU JOUR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12 480 €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425114" y="1783080"/>
            <a:ext cx="2556434" cy="137160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9434" y="1965960"/>
            <a:ext cx="20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99434" y="22860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6210148" y="1783080"/>
            <a:ext cx="255643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4468" y="1965960"/>
            <a:ext cx="20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84468" y="22860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995181" y="1783080"/>
            <a:ext cx="255643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69501" y="1965960"/>
            <a:ext cx="20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269501" y="2286000"/>
            <a:ext cx="2007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PAR CATÉGORIE  •  7 DERNIERS JOURS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749040"/>
          <a:ext cx="69494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818120" y="3429000"/>
            <a:ext cx="3733495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3611880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RAPIDES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46720" y="3977640"/>
            <a:ext cx="327629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10108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595360" y="397764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commande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46720" y="4572000"/>
            <a:ext cx="327629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69544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95360" y="45720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produit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046720" y="5166360"/>
            <a:ext cx="327629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52898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95360" y="516636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messages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produits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tableau complète avec tri, filtres, recherche et actions groupées pour gérer le catalogue.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8669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tableau riche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nom, description, catégorie, prix HT, TVA, prix TTC calculé, stock, statut.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526792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5831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68224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04800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Lister, voir le détail, créer, modifier, supprimer (avec confirmation) un produit.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243072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2994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39852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Tri, filtres &amp; recherche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376428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sur toutes les colonnes, recherche globale, filtres par catégorie / statut / dispo.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3959352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0157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11480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groupées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48056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multiple, changement de statut, modification de catégorie, export.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4675632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47320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483108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export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19684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 / 100 produits par page, export CSV / Excel pour analyse externe.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120640" y="5391912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20640" y="54483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5989320" y="55473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SEO personnalisé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989320" y="5913120"/>
            <a:ext cx="547085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personnalisée pour optimiser le référencement de chaque produit.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d'accueil &amp; catégories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3911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carrousel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3 SLIDES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3342132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20040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multiple en drag &amp; drop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735324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59359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Réorganisation par glisser-déposer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4128516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98678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l'image principale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4521708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379976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individuelle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" y="491490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4773168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redirection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" y="5308092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16636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avec formatage (gras, italique, liens, couleurs)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78728" y="1874520"/>
            <a:ext cx="527288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075688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55968" y="203911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553048" y="283464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COMPLÈTE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553048" y="3342132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35928" y="320040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hiérarchique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53048" y="3735324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35928" y="359359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nom, description, statut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53048" y="4128516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35928" y="398678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produits &amp; ordre d'affichage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553048" y="4521708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35928" y="4379976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par formulaire (nom, image, slug)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553048" y="491490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35928" y="4773168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Réorganisation par drag &amp; drop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553048" y="5308092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35928" y="516636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en masse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553048" y="5701284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735928" y="5559552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détail avec produits associés éditables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Suivi des ventes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9574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PAR JOUR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derniers jours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926080"/>
          <a:ext cx="492998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55868" y="1874520"/>
            <a:ext cx="529574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75908" y="2148840"/>
            <a:ext cx="4655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PAR CATÉGORIE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75908" y="24231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dernières semaines</a:t>
            </a:r>
            <a:endParaRPr lang="en-US" sz="16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438748" y="2926080"/>
          <a:ext cx="492998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complet des comptes utilisateurs avec actions administratives sécurisées.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complètes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e-mail, date d'inscription, statut, nombre de commandes, CA total généré.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Tri, filtre &amp; recherche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statut (actif / inactif / en attente), recherche par nom ou e-mail.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administratives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d'e-mail, réinitialisation de mot de passe, désactivation de compte.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RGPD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d'un compte avec avertissement et conformité aux obligations légales.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&amp; dernière connexion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adresses de facturation et date de dernière connexion accessibles.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commandes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148840"/>
            <a:ext cx="9539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COMMANDES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828800" y="2423160"/>
            <a:ext cx="9539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commande, date, client, montant TTC, statut, mode de paiement, statut du paiement — avec tri, filtres, et historique des changements de statut horodaté.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255643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06817" y="397764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937760"/>
            <a:ext cx="2556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257800"/>
            <a:ext cx="20077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créée, paiement à venir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25114" y="3566160"/>
            <a:ext cx="255643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1851" y="3977640"/>
            <a:ext cx="822960" cy="82296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5114" y="4937760"/>
            <a:ext cx="2556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99434" y="5257800"/>
            <a:ext cx="20077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validé, traitement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0148" y="3566160"/>
            <a:ext cx="255643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76885" y="39776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0148" y="4937760"/>
            <a:ext cx="2556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84468" y="5257800"/>
            <a:ext cx="20077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finalisée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995181" y="3566160"/>
            <a:ext cx="255643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61918" y="39776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95181" y="4937760"/>
            <a:ext cx="2556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269501" y="5257800"/>
            <a:ext cx="20077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annulée ou remboursée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factures &amp; avoirs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0" cy="429768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" y="40233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complet de facturation conforme, avec génération automatique des avoirs lors des annulations.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19385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89320" y="1965960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automatique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généré à la validation du paiement, téléchargement PDF, renvoi par mail au client.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670048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798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989320" y="2825496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de facture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9320" y="3191256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modification dédié, traçabilité de toutes les opérations.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20640" y="3529584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3657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→ avoir auto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4050792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facture est supprimée, un avoir est créé automatiquement.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389120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45171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989320" y="4544568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avoirs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4910328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d'avoir, facture liée, date, client, montant négatif, motif (annulation, remboursement…).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120640" y="5248656"/>
            <a:ext cx="6430975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20640" y="5376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5989320" y="5404104"/>
            <a:ext cx="5470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disponibles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89320" y="5769864"/>
            <a:ext cx="5470855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PDF de chaque avoir, envoi par e-mail au client concerné.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&amp; accessibilité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420624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690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multilingue avec sélection facile via le menu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93776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70916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langues écrites de droite à gauche (RTL : arabe, hébreu)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577840"/>
            <a:ext cx="64008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3492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en anglais pour simplifier la gestion par les administrateurs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728" y="1874520"/>
            <a:ext cx="5272888" cy="4206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2148840"/>
            <a:ext cx="4724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6553048" y="356616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53048" y="4297680"/>
            <a:ext cx="64008" cy="64008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5928" y="406908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aux normes WCAG 2.1 pour tous les utilisateurs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4937760"/>
            <a:ext cx="64008" cy="64008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5928" y="470916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avec les lecteurs d'écran et la navigation au clavier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53048" y="5577840"/>
            <a:ext cx="64008" cy="64008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5928" y="53492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 des couleurs optimisés pour les personnes malvoyantes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pPr indent="0" marL="0">
              <a:buNone/>
            </a:pPr>
            <a:r>
              <a:rPr lang="en-US" sz="100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000" b="1" spc="6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choix techniques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3911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99923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4692" y="304952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8346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données utilisateur (paiement, mots de passe)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50215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4692" y="355244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33756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sessions sécurisée — auth &amp; autorisation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400507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4692" y="405536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38404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contre injection SQL, XSS et CSRF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" y="450799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4692" y="455828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34340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SSL pour toutes les communications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" y="501091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4692" y="506120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484632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sécurité réguliers avant et après livraison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14400" y="5513832"/>
            <a:ext cx="164592" cy="164592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4692" y="5564124"/>
            <a:ext cx="64008" cy="640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534924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PCI-DSS et RGPD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78728" y="1874520"/>
            <a:ext cx="5272888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075688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55968" y="2039112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553048" y="2907792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553048" y="312724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framework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553048" y="3401568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choix, à valider)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553048" y="3541014"/>
            <a:ext cx="47242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53048" y="3650742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553048" y="387019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framework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6553048" y="4144518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choix, à valider)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553048" y="4283964"/>
            <a:ext cx="47242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53048" y="4393692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NoSQL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553048" y="461314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images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6553048" y="4887468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non structurées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553048" y="5026914"/>
            <a:ext cx="472424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553048" y="5136642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RELATIONNELLE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553048" y="5356098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</a:t>
            </a:r>
            <a:endParaRPr lang="en-US" sz="1350" dirty="0"/>
          </a:p>
        </p:txBody>
      </p:sp>
      <p:sp>
        <p:nvSpPr>
          <p:cNvPr id="44" name="Text 40"/>
          <p:cNvSpPr/>
          <p:nvPr/>
        </p:nvSpPr>
        <p:spPr>
          <a:xfrm>
            <a:off x="6553048" y="5630418"/>
            <a:ext cx="472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Commandes, utilisateurs…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2743200"/>
            <a:ext cx="4114800" cy="4114800"/>
          </a:xfrm>
          <a:prstGeom prst="ellipse">
            <a:avLst/>
          </a:prstGeom>
          <a:solidFill>
            <a:srgbClr val="00A8B5">
              <a:alpha val="25000"/>
            </a:srgbClr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2743200" cy="2743200"/>
          </a:xfrm>
          <a:prstGeom prst="ellipse">
            <a:avLst/>
          </a:prstGeom>
          <a:solidFill>
            <a:srgbClr val="33BFC9">
              <a:alpha val="20000"/>
            </a:srgbClr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62495" y="1828800"/>
            <a:ext cx="5029200" cy="5029200"/>
          </a:xfrm>
          <a:prstGeom prst="ellipse">
            <a:avLst/>
          </a:prstGeom>
          <a:solidFill>
            <a:srgbClr val="003D5C">
              <a:alpha val="0"/>
            </a:srgbClr>
          </a:solidFill>
          <a:ln w="9525">
            <a:solidFill>
              <a:srgbClr val="33BFC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13232"/>
            <a:ext cx="118872" cy="118872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 •  CHAPITRE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code, et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33B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technique.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2590724" cy="2377440"/>
          </a:xfrm>
          <a:prstGeom prst="rect">
            <a:avLst/>
          </a:prstGeom>
          <a:solidFill>
            <a:srgbClr val="0E5577"/>
          </a:solidFill>
          <a:ln w="12700">
            <a:solidFill>
              <a:srgbClr val="0E55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108960"/>
            <a:ext cx="2590724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747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4160520"/>
            <a:ext cx="185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4526280"/>
            <a:ext cx="18592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du site (mobile + desktop) et du back-office, avec descriptions de commits claires et code testé sans bugs avant livraison.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13684" y="3108960"/>
            <a:ext cx="2590724" cy="2377440"/>
          </a:xfrm>
          <a:prstGeom prst="rect">
            <a:avLst/>
          </a:prstGeom>
          <a:solidFill>
            <a:srgbClr val="0E5577"/>
          </a:solidFill>
          <a:ln w="12700">
            <a:solidFill>
              <a:srgbClr val="0E557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3684" y="3108960"/>
            <a:ext cx="2590724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4" y="347472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79444" y="4160520"/>
            <a:ext cx="185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779444" y="4526280"/>
            <a:ext cx="18592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modulaire, principes SOLID, nomenclature claire, code documenté pour faciliter la maintenance.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87288" y="3108960"/>
            <a:ext cx="2590724" cy="2377440"/>
          </a:xfrm>
          <a:prstGeom prst="rect">
            <a:avLst/>
          </a:prstGeom>
          <a:solidFill>
            <a:srgbClr val="0E5577"/>
          </a:solidFill>
          <a:ln w="12700">
            <a:solidFill>
              <a:srgbClr val="0E557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87288" y="3108960"/>
            <a:ext cx="2590724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34747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53048" y="4160520"/>
            <a:ext cx="185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53048" y="4526280"/>
            <a:ext cx="18592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d'installation, documentation API (Swagger), structure du code, instructions de tests (Jest, Mocha).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960891" y="3108960"/>
            <a:ext cx="2590724" cy="2377440"/>
          </a:xfrm>
          <a:prstGeom prst="rect">
            <a:avLst/>
          </a:prstGeom>
          <a:solidFill>
            <a:srgbClr val="0E5577"/>
          </a:solidFill>
          <a:ln w="12700">
            <a:solidFill>
              <a:srgbClr val="0E557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60891" y="3108960"/>
            <a:ext cx="2590724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651" y="347472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651" y="4160520"/>
            <a:ext cx="18592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complet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26651" y="4526280"/>
            <a:ext cx="18592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système, diagrammes techniques, justification des choix, plan de sécurité et maintenance.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40080" y="5394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3800" dirty="0"/>
          </a:p>
        </p:txBody>
      </p:sp>
      <p:sp>
        <p:nvSpPr>
          <p:cNvPr id="30" name="Text 24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0080" y="6473952"/>
            <a:ext cx="91440" cy="9144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04672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180015" y="6400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Althea Systems — ASO Produit Final</dc:title>
  <dc:subject>PptxGenJS Presentation</dc:subject>
  <dc:creator>Althea Systems</dc:creator>
  <cp:lastModifiedBy>Althea Systems</cp:lastModifiedBy>
  <cp:revision>1</cp:revision>
  <dcterms:created xsi:type="dcterms:W3CDTF">2026-04-25T12:15:58Z</dcterms:created>
  <dcterms:modified xsi:type="dcterms:W3CDTF">2026-04-25T12:15:58Z</dcterms:modified>
</cp:coreProperties>
</file>