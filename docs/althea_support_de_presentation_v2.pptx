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Imagerie</c:v>
                </c:pt>
              </c:strCache>
            </c:strRef>
          </c:tx>
          <c:spPr>
            <a:solidFill>
              <a:srgbClr val="00A8B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Lun</c:v>
                  </c:pt>
                  <c:pt idx="1">
                    <c:v>Mar</c:v>
                  </c:pt>
                  <c:pt idx="2">
                    <c:v>Mer</c:v>
                  </c:pt>
                  <c:pt idx="3">
                    <c:v>Jeu</c:v>
                  </c:pt>
                  <c:pt idx="4">
                    <c:v>Ven</c:v>
                  </c:pt>
                  <c:pt idx="5">
                    <c:v>Sam</c:v>
                  </c:pt>
                  <c:pt idx="6">
                    <c:v>Dim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3200</c:v>
                </c:pt>
                <c:pt idx="1">
                  <c:v>4100</c:v>
                </c:pt>
                <c:pt idx="2">
                  <c:v>3800</c:v>
                </c:pt>
                <c:pt idx="3">
                  <c:v>5200</c:v>
                </c:pt>
                <c:pt idx="4">
                  <c:v>4800</c:v>
                </c:pt>
                <c:pt idx="5">
                  <c:v>6100</c:v>
                </c:pt>
                <c:pt idx="6">
                  <c:v>4500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Bloc opératoire</c:v>
                </c:pt>
              </c:strCache>
            </c:strRef>
          </c:tx>
          <c:spPr>
            <a:solidFill>
              <a:srgbClr val="003D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Lun</c:v>
                  </c:pt>
                  <c:pt idx="1">
                    <c:v>Mar</c:v>
                  </c:pt>
                  <c:pt idx="2">
                    <c:v>Mer</c:v>
                  </c:pt>
                  <c:pt idx="3">
                    <c:v>Jeu</c:v>
                  </c:pt>
                  <c:pt idx="4">
                    <c:v>Ven</c:v>
                  </c:pt>
                  <c:pt idx="5">
                    <c:v>Sam</c:v>
                  </c:pt>
                  <c:pt idx="6">
                    <c:v>Dim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2100</c:v>
                </c:pt>
                <c:pt idx="1">
                  <c:v>2400</c:v>
                </c:pt>
                <c:pt idx="2">
                  <c:v>2800</c:v>
                </c:pt>
                <c:pt idx="3">
                  <c:v>3100</c:v>
                </c:pt>
                <c:pt idx="4">
                  <c:v>2900</c:v>
                </c:pt>
                <c:pt idx="5">
                  <c:v>3500</c:v>
                </c:pt>
                <c:pt idx="6">
                  <c:v>2700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Soins &amp; monitoring</c:v>
                </c:pt>
              </c:strCache>
            </c:strRef>
          </c:tx>
          <c:spPr>
            <a:solidFill>
              <a:srgbClr val="33BFC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Lun</c:v>
                  </c:pt>
                  <c:pt idx="1">
                    <c:v>Mar</c:v>
                  </c:pt>
                  <c:pt idx="2">
                    <c:v>Mer</c:v>
                  </c:pt>
                  <c:pt idx="3">
                    <c:v>Jeu</c:v>
                  </c:pt>
                  <c:pt idx="4">
                    <c:v>Ven</c:v>
                  </c:pt>
                  <c:pt idx="5">
                    <c:v>Sam</c:v>
                  </c:pt>
                  <c:pt idx="6">
                    <c:v>Dim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1500</c:v>
                </c:pt>
                <c:pt idx="1">
                  <c:v>1800</c:v>
                </c:pt>
                <c:pt idx="2">
                  <c:v>2200</c:v>
                </c:pt>
                <c:pt idx="3">
                  <c:v>2400</c:v>
                </c:pt>
                <c:pt idx="4">
                  <c:v>2600</c:v>
                </c:pt>
                <c:pt idx="5">
                  <c:v>2900</c:v>
                </c:pt>
                <c:pt idx="6">
                  <c:v>2100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F293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1572768"/>
            <a:ext cx="2743200" cy="877824"/>
          </a:xfrm>
          <a:prstGeom prst="roundRect">
            <a:avLst>
              <a:gd name="adj" fmla="val 4167"/>
            </a:avLst>
          </a:prstGeom>
          <a:solidFill>
            <a:srgbClr val="00A8B5">
              <a:alpha val="18000"/>
            </a:srgbClr>
          </a:solidFill>
          <a:ln w="12700">
            <a:solidFill>
              <a:srgbClr val="00A8B5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02368" y="640080"/>
            <a:ext cx="877824" cy="2743200"/>
          </a:xfrm>
          <a:prstGeom prst="roundRect">
            <a:avLst>
              <a:gd name="adj" fmla="val 4167"/>
            </a:avLst>
          </a:prstGeom>
          <a:solidFill>
            <a:srgbClr val="00A8B5">
              <a:alpha val="18000"/>
            </a:srgbClr>
          </a:solidFill>
          <a:ln w="12700">
            <a:solidFill>
              <a:srgbClr val="00A8B5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241280" y="4337914"/>
            <a:ext cx="1463040" cy="468173"/>
          </a:xfrm>
          <a:prstGeom prst="roundRect">
            <a:avLst>
              <a:gd name="adj" fmla="val 7812"/>
            </a:avLst>
          </a:prstGeom>
          <a:solidFill>
            <a:srgbClr val="33BFC9">
              <a:alpha val="22000"/>
            </a:srgbClr>
          </a:solidFill>
          <a:ln w="12700">
            <a:solidFill>
              <a:srgbClr val="33BFC9">
                <a:alpha val="2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38714" y="3840480"/>
            <a:ext cx="468173" cy="1463040"/>
          </a:xfrm>
          <a:prstGeom prst="roundRect">
            <a:avLst>
              <a:gd name="adj" fmla="val 7812"/>
            </a:avLst>
          </a:prstGeom>
          <a:solidFill>
            <a:srgbClr val="33BFC9">
              <a:alpha val="22000"/>
            </a:srgbClr>
          </a:solidFill>
          <a:ln w="12700">
            <a:solidFill>
              <a:srgbClr val="33BFC9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5248656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00A8B5">
              <a:alpha val="15000"/>
            </a:srgbClr>
          </a:solidFill>
          <a:ln w="12700">
            <a:solidFill>
              <a:srgbClr val="00A8B5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34656" y="4937760"/>
            <a:ext cx="292608" cy="914400"/>
          </a:xfrm>
          <a:prstGeom prst="roundRect">
            <a:avLst>
              <a:gd name="adj" fmla="val 12500"/>
            </a:avLst>
          </a:prstGeom>
          <a:solidFill>
            <a:srgbClr val="00A8B5">
              <a:alpha val="15000"/>
            </a:srgbClr>
          </a:solidFill>
          <a:ln w="12700">
            <a:solidFill>
              <a:srgbClr val="00A8B5">
                <a:alpha val="15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7772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·  PROJET BACHELOR CPI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188720"/>
            <a:ext cx="54864" cy="42062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169164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</a:t>
            </a:r>
            <a:endParaRPr lang="en-US" sz="6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77724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 médical de pointe  ·  mobile-first  ·  back-office complet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4572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8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 en ligne sécurisée du catalogue Althea Systems, expérience d'achat fluide sur desktop et mobile, back-office de gestion produits, commandes, factures, contenus et utilisateurs.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57150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0B486B"/>
          </a:solidFill>
          <a:ln w="9525">
            <a:solidFill>
              <a:srgbClr val="00A8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715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+ PCI-DSS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73552" y="57150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0B486B"/>
          </a:solidFill>
          <a:ln w="9525">
            <a:solidFill>
              <a:srgbClr val="00A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5715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MFA TOTP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9864" y="57150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0B486B"/>
          </a:solidFill>
          <a:ln w="9525">
            <a:solidFill>
              <a:srgbClr val="00A8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9864" y="5715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RGPD-ready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266176" y="5715000"/>
            <a:ext cx="2331720" cy="365760"/>
          </a:xfrm>
          <a:prstGeom prst="roundRect">
            <a:avLst>
              <a:gd name="adj" fmla="val 50000"/>
            </a:avLst>
          </a:prstGeom>
          <a:solidFill>
            <a:srgbClr val="0B486B"/>
          </a:solidFill>
          <a:ln w="9525">
            <a:solidFill>
              <a:srgbClr val="00A8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66176" y="57150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 fr · en · ar · he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 FINAL  ·  AVRIL 2026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35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 de la présentation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parcours guidé : du contexte au livrable, côté visiteur puis côté administrateur.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39496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" cy="21488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9202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2011680" y="20574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vision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011680" y="25603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client, le besoin, les 4 défis du projet, sitemap &amp; charte graphique.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35661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03 → 09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39496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828800"/>
            <a:ext cx="54864" cy="21488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3952" y="192024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7863840" y="20574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utilisateur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63840" y="25603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compte au panier : inscription, navigation, recherche, checkout Stripe, historique.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863840" y="356616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10 → 22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4187952"/>
            <a:ext cx="539496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4233672"/>
            <a:ext cx="54864" cy="21488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4325112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2011680" y="446227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011680" y="496519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bord, produits, commandes, factures, avoirs, utilisateurs, contenus.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59710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23 → 29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09360" y="4187952"/>
            <a:ext cx="539496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4233672"/>
            <a:ext cx="54864" cy="21488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73952" y="4325112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600" dirty="0"/>
          </a:p>
        </p:txBody>
      </p:sp>
      <p:sp>
        <p:nvSpPr>
          <p:cNvPr id="25" name="Text 23"/>
          <p:cNvSpPr/>
          <p:nvPr/>
        </p:nvSpPr>
        <p:spPr>
          <a:xfrm>
            <a:off x="7863840" y="4462272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&amp; livrables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863840" y="4965192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+ RTL, accessibilité, sécurité, stack monorepo, livrables Git &amp; DCT.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63840" y="59710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 30 → 35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35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·   SOMMAIRE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356970"/>
            <a:ext cx="2377440" cy="760781"/>
          </a:xfrm>
          <a:prstGeom prst="roundRect">
            <a:avLst>
              <a:gd name="adj" fmla="val 4808"/>
            </a:avLst>
          </a:prstGeom>
          <a:solidFill>
            <a:srgbClr val="00A8B5">
              <a:alpha val="16000"/>
            </a:srgbClr>
          </a:solidFill>
          <a:ln w="12700">
            <a:solidFill>
              <a:srgbClr val="00A8B5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26650" y="548640"/>
            <a:ext cx="760781" cy="2377440"/>
          </a:xfrm>
          <a:prstGeom prst="roundRect">
            <a:avLst>
              <a:gd name="adj" fmla="val 4808"/>
            </a:avLst>
          </a:prstGeom>
          <a:solidFill>
            <a:srgbClr val="00A8B5">
              <a:alpha val="16000"/>
            </a:srgbClr>
          </a:solidFill>
          <a:ln w="12700">
            <a:solidFill>
              <a:srgbClr val="00A8B5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4550054"/>
            <a:ext cx="1280160" cy="409651"/>
          </a:xfrm>
          <a:prstGeom prst="roundRect">
            <a:avLst>
              <a:gd name="adj" fmla="val 8929"/>
            </a:avLst>
          </a:prstGeom>
          <a:solidFill>
            <a:srgbClr val="33BFC9">
              <a:alpha val="20000"/>
            </a:srgbClr>
          </a:solidFill>
          <a:ln w="12700">
            <a:solidFill>
              <a:srgbClr val="33BFC9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50854" y="4114800"/>
            <a:ext cx="409651" cy="1280160"/>
          </a:xfrm>
          <a:prstGeom prst="roundRect">
            <a:avLst>
              <a:gd name="adj" fmla="val 8929"/>
            </a:avLst>
          </a:prstGeom>
          <a:solidFill>
            <a:srgbClr val="33BFC9">
              <a:alpha val="20000"/>
            </a:srgbClr>
          </a:solidFill>
          <a:ln w="12700">
            <a:solidFill>
              <a:srgbClr val="33BFC9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2000" b="1" dirty="0">
                <a:solidFill>
                  <a:srgbClr val="0B4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1097280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1   ·   LE PROJET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vision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5577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 client, le besoin et la promesse — avant de plonger dans les fonctionnalités.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1F4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35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 d’Althea Systems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Spécialiste du matériel médical de pointe, en transition vers le e-commerce international.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585216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920240"/>
            <a:ext cx="576072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8000" dirty="0"/>
          </a:p>
        </p:txBody>
      </p:sp>
      <p:sp>
        <p:nvSpPr>
          <p:cNvPr id="7" name="Text 5"/>
          <p:cNvSpPr/>
          <p:nvPr/>
        </p:nvSpPr>
        <p:spPr>
          <a:xfrm>
            <a:off x="777240" y="2606040"/>
            <a:ext cx="5303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expérience d’achat fluide et moderne, en adéquation avec les attentes actuelles du marché.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4434840"/>
            <a:ext cx="1097280" cy="0"/>
          </a:xfrm>
          <a:prstGeom prst="line">
            <a:avLst/>
          </a:prstGeom>
          <a:noFill/>
          <a:ln w="19050">
            <a:solidFill>
              <a:srgbClr val="00A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617720"/>
            <a:ext cx="5303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Jusqu’à présent, le catalogue Althea était commercialisé via un réseau de distribution et les équipes commerciales. Le projet vise une refonte complète : capter de nouveaux marchés, digitaliser la relation client et industrialiser la gestion interne.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920240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1965960"/>
            <a:ext cx="54864" cy="12344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2011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66560" y="24231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responsive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0" y="2697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lisible et rapide depuis un smartphone, footer replié dans le menu burger.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583680" y="3401568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0" y="3447288"/>
            <a:ext cx="54864" cy="12344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34930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+ BO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766560" y="390448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41788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public Next.js et back-office unifiés sur le même monorepo Turborepo.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83680" y="4882896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4928616"/>
            <a:ext cx="54864" cy="12344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49743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53858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visés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766560" y="56601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Multilingue fr · en · ar · he avec support des langues écrites de droite à gauche.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35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·   CONTEXTE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défis du projet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grille de lecture pour rester aligné avec les attentes du cahier des charges.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530352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476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4963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sécurisée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9260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en ligne robuste avec Stripe, données utilisateurs chiffrées, sessions JWT courtes + refresh, MFA TOTP côté admin.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783080"/>
            <a:ext cx="530352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4767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92240" y="249631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utilisateur fluide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92608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Mobile-first, navigation au clavier, recherche temps réel &lt; 100 ms, panier accessible aux invités.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87368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4087368"/>
            <a:ext cx="530352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251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" y="4800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complet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" y="523036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produits, catégories, contenus de la home, commandes, factures, avoirs, utilisateurs et messages support.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4087368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4087368"/>
            <a:ext cx="530352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2519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492240" y="48006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 &amp; maintenabilité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5230368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NestJS (domain / application / infrastructure), monorepo Turborepo, types partagés.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35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·   OBJECTIFS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356970"/>
            <a:ext cx="2377440" cy="760781"/>
          </a:xfrm>
          <a:prstGeom prst="roundRect">
            <a:avLst>
              <a:gd name="adj" fmla="val 4808"/>
            </a:avLst>
          </a:prstGeom>
          <a:solidFill>
            <a:srgbClr val="00A8B5">
              <a:alpha val="16000"/>
            </a:srgbClr>
          </a:solidFill>
          <a:ln w="12700">
            <a:solidFill>
              <a:srgbClr val="00A8B5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26650" y="548640"/>
            <a:ext cx="760781" cy="2377440"/>
          </a:xfrm>
          <a:prstGeom prst="roundRect">
            <a:avLst>
              <a:gd name="adj" fmla="val 4808"/>
            </a:avLst>
          </a:prstGeom>
          <a:solidFill>
            <a:srgbClr val="00A8B5">
              <a:alpha val="16000"/>
            </a:srgbClr>
          </a:solidFill>
          <a:ln w="12700">
            <a:solidFill>
              <a:srgbClr val="00A8B5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4550054"/>
            <a:ext cx="1280160" cy="409651"/>
          </a:xfrm>
          <a:prstGeom prst="roundRect">
            <a:avLst>
              <a:gd name="adj" fmla="val 8929"/>
            </a:avLst>
          </a:prstGeom>
          <a:solidFill>
            <a:srgbClr val="33BFC9">
              <a:alpha val="20000"/>
            </a:srgbClr>
          </a:solidFill>
          <a:ln w="12700">
            <a:solidFill>
              <a:srgbClr val="33BFC9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50854" y="4114800"/>
            <a:ext cx="409651" cy="1280160"/>
          </a:xfrm>
          <a:prstGeom prst="roundRect">
            <a:avLst>
              <a:gd name="adj" fmla="val 8929"/>
            </a:avLst>
          </a:prstGeom>
          <a:solidFill>
            <a:srgbClr val="33BFC9">
              <a:alpha val="20000"/>
            </a:srgbClr>
          </a:solidFill>
          <a:ln w="12700">
            <a:solidFill>
              <a:srgbClr val="33BFC9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2000" b="1" dirty="0">
                <a:solidFill>
                  <a:srgbClr val="0B4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1097280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2   ·   ARCHITECTURE &amp; IDENTITÉ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Sitemap, layout &amp; charte graphique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5577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structure du site et les codes visuels qui rendent chaque page reconnaissable.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1F4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35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Sitemap — l’organisation du site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familles de pages, une navigation cohérente entre découverte, achat et gestion du compte.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57600" cy="420624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356616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principales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2468880"/>
            <a:ext cx="1097280" cy="0"/>
          </a:xfrm>
          <a:prstGeom prst="line">
            <a:avLst/>
          </a:prstGeom>
          <a:noFill/>
          <a:ln w="19050">
            <a:solidFill>
              <a:srgbClr val="00A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517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 ›  Produit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+ Chatbot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 · CGU · Mentions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657600" cy="420624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783080"/>
            <a:ext cx="356616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965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de commande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0" y="2468880"/>
            <a:ext cx="1097280" cy="0"/>
          </a:xfrm>
          <a:prstGeom prst="line">
            <a:avLst/>
          </a:prstGeom>
          <a:noFill/>
          <a:ln w="19050">
            <a:solidFill>
              <a:srgbClr val="00A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6517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 ·  4 étapes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+ facture PDF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657600" cy="420624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75320" y="1783080"/>
            <a:ext cx="356616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58200" y="19659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utilisateur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58200" y="2468880"/>
            <a:ext cx="1097280" cy="0"/>
          </a:xfrm>
          <a:prstGeom prst="line">
            <a:avLst/>
          </a:prstGeom>
          <a:noFill/>
          <a:ln w="19050">
            <a:solidFill>
              <a:srgbClr val="00A8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8200" y="265176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compte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 (profil, adresses, paiement)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commandes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/ Inscription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oublié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080760"/>
            <a:ext cx="11277295" cy="329184"/>
          </a:xfrm>
          <a:prstGeom prst="roundRect">
            <a:avLst>
              <a:gd name="adj" fmla="val 16667"/>
            </a:avLst>
          </a:prstGeom>
          <a:solidFill>
            <a:srgbClr val="D4F4F7"/>
          </a:solidFill>
          <a:ln w="6350">
            <a:solidFill>
              <a:srgbClr val="D4F4F7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6080760"/>
            <a:ext cx="10911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pages héritent du même en-tête (logo, recherche, panier, menu burger) et du footer (replié dans le menu sur mobile).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35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·   SITEMAP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— la même grammaire sur chaque page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 persistant, zone de contenu, pied de page : le repère visuel de l’utilisateur.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21208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5029200" cy="50292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9280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1993392"/>
            <a:ext cx="237744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91640" y="19933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un produit…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69080" y="199339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160520" y="2075688"/>
            <a:ext cx="292608" cy="118872"/>
          </a:xfrm>
          <a:prstGeom prst="trapezoi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2039112"/>
            <a:ext cx="9144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97096" y="2212848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0832" y="2212848"/>
            <a:ext cx="54864" cy="548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99339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73168" y="2048256"/>
            <a:ext cx="283464" cy="27432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73168" y="2121408"/>
            <a:ext cx="283464" cy="27432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2194560"/>
            <a:ext cx="283464" cy="27432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468880"/>
            <a:ext cx="5029200" cy="3200400"/>
          </a:xfrm>
          <a:prstGeom prst="rect">
            <a:avLst/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46888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contenu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(produits, formulaires, informations contextuelles)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760720"/>
            <a:ext cx="5029200" cy="50292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5760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CGU  ·  Mentions légales  ·  Contact  ·  Réseaux sociaux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1828800"/>
            <a:ext cx="384048" cy="38404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17830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En-tête persistant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46520" y="216712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à gauche, barre de recherche centrale, accès panier (badge si articles), menu burger.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0" y="2907792"/>
            <a:ext cx="384048" cy="38404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28620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de contenu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46520" y="324612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Produits, formulaires, informations contextuelles — toujours en dessous d’un fil d’Ariane sémantique.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0" y="3986784"/>
            <a:ext cx="384048" cy="38404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0" y="3986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46520" y="394106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Pied de page (desktop)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446520" y="4325112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CGU, mentions légales, contact, réseaux sociaux.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5065776"/>
            <a:ext cx="384048" cy="38404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0" y="5065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46520" y="502005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46520" y="540410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mobile, les liens du footer sont rapatriés dans le menu burger pour libérer la zone d’achat.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35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·   LAYOUT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graphique — couleurs, typo &amp; logos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palette teal médicale, deux familles typographiques, un logo qui s’adapte au terminal.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325880" cy="1417320"/>
          </a:xfrm>
          <a:prstGeom prst="roundRect">
            <a:avLst>
              <a:gd name="adj" fmla="val 3448"/>
            </a:avLst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1892808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CTA, liens, badges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278892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#00A8B5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47672" y="1783080"/>
            <a:ext cx="1325880" cy="1417320"/>
          </a:xfrm>
          <a:prstGeom prst="roundRect">
            <a:avLst>
              <a:gd name="adj" fmla="val 3448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20824" y="1892808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20824" y="278892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#D4F4F7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38144" y="1783080"/>
            <a:ext cx="1325880" cy="1417320"/>
          </a:xfrm>
          <a:prstGeom prst="roundRect">
            <a:avLst>
              <a:gd name="adj" fmla="val 3448"/>
            </a:avLst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11296" y="1892808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states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11296" y="278892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#33BFC9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28616" y="1783080"/>
            <a:ext cx="1325880" cy="1417320"/>
          </a:xfrm>
          <a:prstGeom prst="roundRect">
            <a:avLst>
              <a:gd name="adj" fmla="val 3448"/>
            </a:avLst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1892808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Titres, navigation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01768" y="2788920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#003D5C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1325880" cy="1417320"/>
          </a:xfrm>
          <a:prstGeom prst="roundRect">
            <a:avLst>
              <a:gd name="adj" fmla="val 3448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511296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0352" y="4407408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#10B981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47672" y="3401568"/>
            <a:ext cx="1325880" cy="1417320"/>
          </a:xfrm>
          <a:prstGeom prst="roundRect">
            <a:avLst>
              <a:gd name="adj" fmla="val 3448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0824" y="3511296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020824" y="4407408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#EF4444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38144" y="3401568"/>
            <a:ext cx="1325880" cy="1417320"/>
          </a:xfrm>
          <a:prstGeom prst="roundRect">
            <a:avLst>
              <a:gd name="adj" fmla="val 344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11296" y="3511296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511296" y="4407408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#F59E0B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28616" y="3401568"/>
            <a:ext cx="1325880" cy="1417320"/>
          </a:xfrm>
          <a:prstGeom prst="roundRect">
            <a:avLst>
              <a:gd name="adj" fmla="val 3448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01768" y="3511296"/>
            <a:ext cx="1179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principal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01768" y="4407408"/>
            <a:ext cx="1179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#1F2937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PRODUITS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166360"/>
            <a:ext cx="1325880" cy="411480"/>
          </a:xfrm>
          <a:prstGeom prst="roundRect">
            <a:avLst>
              <a:gd name="adj" fmla="val 48889"/>
            </a:avLst>
          </a:prstGeom>
          <a:solidFill>
            <a:srgbClr val="DCFCE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1663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 stock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65960" y="5166360"/>
            <a:ext cx="1325880" cy="411480"/>
          </a:xfrm>
          <a:prstGeom prst="roundRect">
            <a:avLst>
              <a:gd name="adj" fmla="val 48889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65960" y="51663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Stock faible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5669280"/>
            <a:ext cx="1325880" cy="411480"/>
          </a:xfrm>
          <a:prstGeom prst="roundRect">
            <a:avLst>
              <a:gd name="adj" fmla="val 48889"/>
            </a:avLst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56692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Rupture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965960" y="5669280"/>
            <a:ext cx="1325880" cy="411480"/>
          </a:xfrm>
          <a:prstGeom prst="roundRect">
            <a:avLst>
              <a:gd name="adj" fmla="val 48889"/>
            </a:avLst>
          </a:prstGeom>
          <a:solidFill>
            <a:srgbClr val="CFFAFE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65960" y="56692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Nouveau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474720" y="4846320"/>
            <a:ext cx="8257032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474720" y="4892040"/>
            <a:ext cx="54864" cy="14173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0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TYPOGRAPHIE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657600" y="5166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</a:t>
            </a:r>
            <a:endParaRPr lang="en-US" sz="3800" dirty="0"/>
          </a:p>
        </p:txBody>
      </p:sp>
      <p:sp>
        <p:nvSpPr>
          <p:cNvPr id="41" name="Text 39"/>
          <p:cNvSpPr/>
          <p:nvPr/>
        </p:nvSpPr>
        <p:spPr>
          <a:xfrm>
            <a:off x="4663440" y="5166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SemiBold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663440" y="5440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Titres, headers et navigation.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412480" y="5166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Regular 400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8412480" y="5440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Corps de texte, descriptions, formulaires.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35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·   IDENTITÉ VISUELLE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356970"/>
            <a:ext cx="2377440" cy="760781"/>
          </a:xfrm>
          <a:prstGeom prst="roundRect">
            <a:avLst>
              <a:gd name="adj" fmla="val 4808"/>
            </a:avLst>
          </a:prstGeom>
          <a:solidFill>
            <a:srgbClr val="00A8B5">
              <a:alpha val="16000"/>
            </a:srgbClr>
          </a:solidFill>
          <a:ln w="12700">
            <a:solidFill>
              <a:srgbClr val="00A8B5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26650" y="548640"/>
            <a:ext cx="760781" cy="2377440"/>
          </a:xfrm>
          <a:prstGeom prst="roundRect">
            <a:avLst>
              <a:gd name="adj" fmla="val 4808"/>
            </a:avLst>
          </a:prstGeom>
          <a:solidFill>
            <a:srgbClr val="00A8B5">
              <a:alpha val="16000"/>
            </a:srgbClr>
          </a:solidFill>
          <a:ln w="12700">
            <a:solidFill>
              <a:srgbClr val="00A8B5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4550054"/>
            <a:ext cx="1280160" cy="409651"/>
          </a:xfrm>
          <a:prstGeom prst="roundRect">
            <a:avLst>
              <a:gd name="adj" fmla="val 8929"/>
            </a:avLst>
          </a:prstGeom>
          <a:solidFill>
            <a:srgbClr val="33BFC9">
              <a:alpha val="20000"/>
            </a:srgbClr>
          </a:solidFill>
          <a:ln w="12700">
            <a:solidFill>
              <a:srgbClr val="33BFC9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50854" y="4114800"/>
            <a:ext cx="409651" cy="1280160"/>
          </a:xfrm>
          <a:prstGeom prst="roundRect">
            <a:avLst>
              <a:gd name="adj" fmla="val 8929"/>
            </a:avLst>
          </a:prstGeom>
          <a:solidFill>
            <a:srgbClr val="33BFC9">
              <a:alpha val="20000"/>
            </a:srgbClr>
          </a:solidFill>
          <a:ln w="12700">
            <a:solidFill>
              <a:srgbClr val="33BFC9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2000" b="1" dirty="0">
                <a:solidFill>
                  <a:srgbClr val="0B4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1097280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3   ·   PARCOURS UTILISATEUR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compte à la commande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5577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Inscription, navigation, panier, checkout Stripe, suivi des achats et support.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1F4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— créer un compte en quelques secondes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court (nom, e-mail, mot de passe), validation côté client + serveur, confirmation par e-mail.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12064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502920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UN COMPTE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complet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587752"/>
            <a:ext cx="4754880" cy="411480"/>
          </a:xfrm>
          <a:prstGeom prst="roundRect">
            <a:avLst>
              <a:gd name="adj" fmla="val 13333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877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Aïcha Karam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1729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e-mail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4754880" cy="411480"/>
          </a:xfrm>
          <a:prstGeom prst="roundRect">
            <a:avLst>
              <a:gd name="adj" fmla="val 13333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29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aicha.karam@hospitalclient.fr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01421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4270248"/>
            <a:ext cx="4754880" cy="411480"/>
          </a:xfrm>
          <a:prstGeom prst="roundRect">
            <a:avLst>
              <a:gd name="adj" fmla="val 13333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2702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••••••••••••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4754880" cy="502920"/>
          </a:xfrm>
          <a:prstGeom prst="roundRect">
            <a:avLst>
              <a:gd name="adj" fmla="val 14545"/>
            </a:avLst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9834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mon compte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cliquant, l’utilisateur reçoit un e-mail avec un lien de confirmation valide 24 heures.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89320" y="1828800"/>
            <a:ext cx="502920" cy="50292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75120" y="178308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en temps réel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2167128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Vérifications client et serveur (IsEmail, MinLength), messages d’erreur clairs sous chaque champ.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0" y="2990088"/>
            <a:ext cx="502920" cy="50292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2990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2944368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de confirmation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75120" y="3328416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sécurisé envoyé via Nodemailer, lien unique valide 24 h, indispensable pour activer le compte.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89320" y="4151376"/>
            <a:ext cx="502920" cy="50292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4151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4105656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à la confirmation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675120" y="4489704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validation du lien, redirection vers la page de connexion (auto-login en backlog).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89320" y="5312664"/>
            <a:ext cx="502920" cy="50292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5312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5266944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RGPD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75120" y="5650992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bcrypt du mot de passe, données chiffrées en transit, conformité aux recommandations CNIL.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·   COMPTE  ·  INSCRIPTION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&amp; sessions sécurisées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JWT à durée courte, refresh tokens, redirection contextuelle et récupération du mot de passe.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703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" cy="132588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74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8745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standard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22860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+ mot de passe, redirection automatique vers la page demandée si l’utilisateur tentait d’accéder à une zone privée.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783080"/>
            <a:ext cx="3703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43400" y="1828800"/>
            <a:ext cx="54864" cy="132588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07992" y="1874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120640" y="18745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non confirmé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07992" y="22860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l’e-mail n’a pas été validé, message dédié invitant à vérifier sa boîte ou à demander un renvoi.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703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1828800"/>
            <a:ext cx="54864" cy="132588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874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06840" y="18745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explicites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94192" y="22860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Identifiants incorrects → message clair + lien vers la récupération de mot de passe.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401568"/>
            <a:ext cx="3703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447288"/>
            <a:ext cx="54864" cy="132588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4930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4930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courts + refresh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" y="390448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JWT 15 min, refresh token 30 jours en cookie httpOnly, rotation à chaque appel /auth/refresh.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401568"/>
            <a:ext cx="3703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43400" y="3447288"/>
            <a:ext cx="54864" cy="132588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07992" y="34930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34930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Se souvenir de moi »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07992" y="390448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de session prolongé pour éviter une nouvelle connexion à chaque visite.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29600" y="3401568"/>
            <a:ext cx="3703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29600" y="3447288"/>
            <a:ext cx="54864" cy="132588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34930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06840" y="34930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oublié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94192" y="3904488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sécurisé envoyé par e-mail, valide 24 h, page dédiée de réinitialisation avec règle de force du mot de passe.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983480"/>
            <a:ext cx="11277295" cy="1325880"/>
          </a:xfrm>
          <a:prstGeom prst="roundRect">
            <a:avLst>
              <a:gd name="adj" fmla="val 4138"/>
            </a:avLst>
          </a:prstGeom>
          <a:solidFill>
            <a:srgbClr val="EAF6F8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5029200"/>
            <a:ext cx="54864" cy="1234440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074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 LA SESSION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0080" y="5394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15 min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5669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court côté client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880360" y="5394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30 j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880360" y="5669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httpOnly + rotation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20640" y="5394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 10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20640" y="5669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+ salt par utilisateur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60920" y="5394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TOTP (admin)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360920" y="5669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challenge, verify, disable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01200" y="5394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 + CORS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601200" y="56692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durcis, origines whitelistées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·   COMPTE  ·  CONNEXION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compte — paramètres, adresses, paiements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zone unifiée pour gérer son profil, son carnet d’adresses et ses moyens de paiement en toute sécurité.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57600" cy="4526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356616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011680"/>
            <a:ext cx="594360" cy="594360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3320" y="2161756"/>
            <a:ext cx="130759" cy="130759"/>
          </a:xfrm>
          <a:prstGeom prst="ellipse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7941" y="2325205"/>
            <a:ext cx="261518" cy="147104"/>
          </a:xfrm>
          <a:prstGeom prst="roundRect">
            <a:avLst>
              <a:gd name="adj" fmla="val 44444"/>
            </a:avLst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1546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le nom complet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l’e-mail (confirmation envoyée à la nouvelle adresse)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le mot de passe (ancien requis)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657600" cy="4526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783080"/>
            <a:ext cx="356616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17720" y="2011680"/>
            <a:ext cx="594360" cy="594360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6831" y="2145411"/>
            <a:ext cx="196139" cy="212484"/>
          </a:xfrm>
          <a:prstGeom prst="ellipse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849520" y="2292515"/>
            <a:ext cx="130759" cy="179794"/>
          </a:xfrm>
          <a:prstGeom prst="triangle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69134" y="2197715"/>
            <a:ext cx="91531" cy="91531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0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d’adresses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17720" y="2788920"/>
            <a:ext cx="31546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adresse (9 champs : prénom, nom, adresse 1/2, ville, région, CP, pays, téléphone)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ou supprimer une adresse existante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Réutilisée automatiquement au checkout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0" y="1783080"/>
            <a:ext cx="3657600" cy="4526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75320" y="1783080"/>
            <a:ext cx="356616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03920" y="2011680"/>
            <a:ext cx="594360" cy="594360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37651" y="2204253"/>
            <a:ext cx="326898" cy="212484"/>
          </a:xfrm>
          <a:prstGeom prst="roundRect">
            <a:avLst>
              <a:gd name="adj" fmla="val 9231"/>
            </a:avLst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53996" y="2250018"/>
            <a:ext cx="294208" cy="3269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70341" y="2325205"/>
            <a:ext cx="58842" cy="52304"/>
          </a:xfrm>
          <a:prstGeom prst="roundRect">
            <a:avLst>
              <a:gd name="adj" fmla="val 34965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20574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de paiement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503920" y="2788920"/>
            <a:ext cx="31546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carte via Stripe (tokenisation, last4 + brand stockés)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une carte par défaut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une carte (data PCI-DSS jamais persistée)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6355080"/>
            <a:ext cx="0" cy="0"/>
          </a:xfrm>
          <a:prstGeom prst="roundRect">
            <a:avLst>
              <a:gd name="adj" fmla="val Infinity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6400800"/>
            <a:ext cx="54864" cy="-914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·   COMPTE  ·  PARAMÈTRES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d’accueil — la vitrine éditable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Première impression et porte d’entrée vers le catalogue, entièrement personnalisable depuis le back-office.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85216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5486400" cy="1691640"/>
          </a:xfrm>
          <a:prstGeom prst="rect">
            <a:avLst/>
          </a:prstGeom>
          <a:solidFill>
            <a:srgbClr val="0E5A78"/>
          </a:solidFill>
          <a:ln w="12700">
            <a:solidFill>
              <a:srgbClr val="0E5A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5486400" cy="2743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CARROUSEL  ·  3 SLIDES MAX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Imagerie médicale</a:t>
            </a:r>
            <a:endParaRPr lang="en-US" sz="2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nouvelle génération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5486400" cy="45720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703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Texte fixe éditable depuis le back-office »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4297680"/>
            <a:ext cx="1755648" cy="868680"/>
          </a:xfrm>
          <a:prstGeom prst="roundRect">
            <a:avLst>
              <a:gd name="adj" fmla="val 6316"/>
            </a:avLst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2976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Imagerie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4297680"/>
            <a:ext cx="1755648" cy="868680"/>
          </a:xfrm>
          <a:prstGeom prst="roundRect">
            <a:avLst>
              <a:gd name="adj" fmla="val 6316"/>
            </a:avLst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42976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opératoire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4297680"/>
            <a:ext cx="1755648" cy="868680"/>
          </a:xfrm>
          <a:prstGeom prst="roundRect">
            <a:avLst>
              <a:gd name="adj" fmla="val 6316"/>
            </a:avLst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0" y="4297680"/>
            <a:ext cx="17556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Soins &amp; monitoring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5303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Top Produits du moment »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623560"/>
            <a:ext cx="1280160" cy="594360"/>
          </a:xfrm>
          <a:prstGeom prst="roundRect">
            <a:avLst>
              <a:gd name="adj" fmla="val 9231"/>
            </a:avLst>
          </a:prstGeom>
          <a:solidFill>
            <a:srgbClr val="D4F4F7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6235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ALT-CT-500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20824" y="5623560"/>
            <a:ext cx="1280160" cy="594360"/>
          </a:xfrm>
          <a:prstGeom prst="roundRect">
            <a:avLst>
              <a:gd name="adj" fmla="val 9231"/>
            </a:avLst>
          </a:prstGeom>
          <a:solidFill>
            <a:srgbClr val="D4F4F7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20824" y="56235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ALT-MON-200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01568" y="5623560"/>
            <a:ext cx="1280160" cy="594360"/>
          </a:xfrm>
          <a:prstGeom prst="roundRect">
            <a:avLst>
              <a:gd name="adj" fmla="val 9231"/>
            </a:avLst>
          </a:prstGeom>
          <a:solidFill>
            <a:srgbClr val="D4F4F7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01568" y="56235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ALT-BLOC-900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82312" y="5623560"/>
            <a:ext cx="1280160" cy="594360"/>
          </a:xfrm>
          <a:prstGeom prst="roundRect">
            <a:avLst>
              <a:gd name="adj" fmla="val 9231"/>
            </a:avLst>
          </a:prstGeom>
          <a:solidFill>
            <a:srgbClr val="D4F4F7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56235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ALT-IMG-410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46520" y="18288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46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040880" y="17830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Carrousel  ·  3 slides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21488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textes et liens promotionnels modifiables, ordre ajustable par drag &amp; drop.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46520" y="27432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0880" y="26974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fixe sous le hero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040880" y="30632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bloc unique, modifiable depuis le back-office, pour les annonces ou descriptions.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46520" y="36576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36118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catégories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040880" y="39776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visuels vers les rayons, image et ordre personnalisables.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46520" y="45720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40880" y="45262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produits du moment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040880" y="48920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 mise en avant, badge `featured` côté entité Product.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46520" y="54864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40880" y="5440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Pied de page complet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040880" y="580644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CGU, mentions légales, contact, réseaux sociaux. Replié dans le menu burger sur mobile.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·   PARCOURS  ·  ACCUEIL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par catégorie — l’entrée par rayon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principale, description, puis affichage adapté au terminal — liste sur mobile, grille sur desktop.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530352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476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463040" y="2057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&amp; description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plein-écran avec surimpression du nom de catégorie, description introductive juste en dessous.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783080"/>
            <a:ext cx="530352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476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269480" y="2057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/ grille adaptative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26517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: liste verticale pour faciliter le scroll. Desktop : grille à la même densité que la home.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4087368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4087368"/>
            <a:ext cx="530352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463040" y="4361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produit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85800" y="495604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Nom, prix TTC, badge « En rupture de stock » avec opacité réduite si indisponible.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087368"/>
            <a:ext cx="539496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4087368"/>
            <a:ext cx="530352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2519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269480" y="4361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intelligent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92240" y="4956048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 prioritaires (ordre BO) → produits standards → produits en rupture, toujours en dernier.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·   PARCOURS  ·  CATALOGUE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produit — la page de conversion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clé : informations détaillées, CTA visible, suggestions de produits similaires.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12064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4754880" cy="2240280"/>
          </a:xfrm>
          <a:prstGeom prst="roundRect">
            <a:avLst>
              <a:gd name="adj" fmla="val 2449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2606040"/>
            <a:ext cx="868680" cy="8686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92933" y="2849270"/>
            <a:ext cx="477774" cy="382219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3486" y="2897048"/>
            <a:ext cx="85999" cy="8599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40710" y="2992603"/>
            <a:ext cx="238887" cy="238887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520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Carrousel d’illustrations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251960"/>
            <a:ext cx="1106424" cy="411480"/>
          </a:xfrm>
          <a:prstGeom prst="roundRect">
            <a:avLst>
              <a:gd name="adj" fmla="val 8889"/>
            </a:avLst>
          </a:prstGeom>
          <a:solidFill>
            <a:srgbClr val="D4F4F7"/>
          </a:solidFill>
          <a:ln w="19050">
            <a:solidFill>
              <a:srgbClr val="00A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25196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37944" y="4251960"/>
            <a:ext cx="1106424" cy="411480"/>
          </a:xfrm>
          <a:prstGeom prst="roundRect">
            <a:avLst>
              <a:gd name="adj" fmla="val 8889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37944" y="425196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035808" y="4251960"/>
            <a:ext cx="1106424" cy="411480"/>
          </a:xfrm>
          <a:prstGeom prst="roundRect">
            <a:avLst>
              <a:gd name="adj" fmla="val 8889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425196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33672" y="4251960"/>
            <a:ext cx="1106424" cy="411480"/>
          </a:xfrm>
          <a:prstGeom prst="roundRect">
            <a:avLst>
              <a:gd name="adj" fmla="val 8889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33672" y="4251960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ALT-CT-500  ·  Scanner mobile haute résolution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074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12 480,00 €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023360" y="516636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0" y="51663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 stock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5577840"/>
            <a:ext cx="2286000" cy="502920"/>
          </a:xfrm>
          <a:prstGeom prst="roundRect">
            <a:avLst>
              <a:gd name="adj" fmla="val 14545"/>
            </a:avLst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55778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au panier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17520" y="5577840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5577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Acheter maintenant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89320" y="18288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17830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Carrousel d’illustrations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583680" y="214884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vues, navigation au clavier (←/→) et au swipe sur mobile, miniatures cliquables.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989320" y="27432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893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0" y="26974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techniques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0" y="306324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specs structurées (entité Product.specs) avec libellés et valeurs.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989320" y="36576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583680" y="36118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Prix, TVA &amp; disponibilité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83680" y="397764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TTC visible, mention « Rupture de stock » bien explicite si indisponible.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89320" y="45720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583680" y="45262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CTA dynamique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583680" y="489204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Ajouter au panier » désactivé hors stock, libellé adapté.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989320" y="54864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583680" y="5440680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produits similaires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6583680" y="580644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Tirés aléatoirement de la même catégorie, en priorisant les disponibles.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 ·   PARCOURS  ·  FICHE PRODUIT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avancée — facettes, scoring &amp; temps réel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page de recherche puissante avec filtres, tri et règles de pertinence pondérées.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657600" cy="452628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356616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FACETTES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329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du titre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Caractéristiques techniques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min / max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Uniquement disponibles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783080"/>
            <a:ext cx="743407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97680" y="1828800"/>
            <a:ext cx="54864" cy="210312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874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DE PERTINENCE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80560" y="2194560"/>
            <a:ext cx="292608" cy="292608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2194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2194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Correspondance exacte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35240" y="2194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1 000 000  ·  résultat parfait priorisé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80560" y="2606040"/>
            <a:ext cx="292608" cy="292608"/>
          </a:xfrm>
          <a:prstGeom prst="ellipse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2606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4608" y="26060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1 caractère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35240" y="26060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850 000  ·  faute de frappe acceptée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3017520"/>
            <a:ext cx="292608" cy="292608"/>
          </a:xfrm>
          <a:prstGeom prst="ellipse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056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Commence par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3524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720 000  ·  préfixe du texte recherché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80560" y="3429000"/>
            <a:ext cx="292608" cy="292608"/>
          </a:xfrm>
          <a:prstGeom prst="ellipse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3429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64608" y="3429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635240" y="3429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680 000  ·  occurrence dans le titre/description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297680" y="4069080"/>
            <a:ext cx="365760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97680" y="4114800"/>
            <a:ext cx="54864" cy="2148840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DES RÉSULTATS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480560" y="4480560"/>
            <a:ext cx="3291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 ↑ ↓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Nouveauté  ↑ ↓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 ↑ 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74152" y="4069080"/>
            <a:ext cx="3657600" cy="2240280"/>
          </a:xfrm>
          <a:prstGeom prst="roundRect">
            <a:avLst>
              <a:gd name="adj" fmla="val 2449"/>
            </a:avLst>
          </a:prstGeom>
          <a:solidFill>
            <a:srgbClr val="EAF8E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074152" y="4114800"/>
            <a:ext cx="54864" cy="2148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57032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257032" y="44805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ms</a:t>
            </a:r>
            <a:endParaRPr lang="en-US" sz="4200" dirty="0"/>
          </a:p>
        </p:txBody>
      </p:sp>
      <p:sp>
        <p:nvSpPr>
          <p:cNvPr id="35" name="Text 33"/>
          <p:cNvSpPr/>
          <p:nvPr/>
        </p:nvSpPr>
        <p:spPr>
          <a:xfrm>
            <a:off x="8257032" y="53492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cible mesurée par l’API (`tookMs`), résultats reflétés en temps réel après modification BO.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 ·   PARCOURS  ·  RECHERCHE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Panier — récapitulatif et passage à la caisse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aux invités comme aux utilisateurs connectés, avec calcul TTC en temps réel.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6858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PANIER  ·  3 ARTICLES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6492240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mobile ALT-CT-500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023360" y="2377440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0" y="2377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 1   +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12 480,00 €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63640" y="23317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12 480,00 €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0449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Moniteur multiparam ALT-MON-200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023360" y="3090672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30906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 2   +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0449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1 980,00 €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30449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3 960,00 €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37581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opératoire ALT-BLOC-900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403250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03250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Indisponible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023360" y="3803904"/>
            <a:ext cx="914400" cy="256032"/>
          </a:xfrm>
          <a:prstGeom prst="roundRect">
            <a:avLst>
              <a:gd name="adj" fmla="val 14286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38039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 1   +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7581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8 750,00 €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375818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8 750,00 €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6492240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4663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Sous-total HT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89320" y="4663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21 866,67 €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14800" y="4937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89320" y="49377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4 373,33 €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52578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TTC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89320" y="52578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26 240,00 €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40080" y="5669280"/>
            <a:ext cx="6492240" cy="548640"/>
          </a:xfrm>
          <a:prstGeom prst="roundRect">
            <a:avLst>
              <a:gd name="adj" fmla="val 13333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566928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à la caisse  ·  désactivé tant qu’un produit est indisponible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498080" y="18288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98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92440" y="1783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inline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092440" y="21488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+/− et suppression directe, mise à jour optimiste.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498080" y="29718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92440" y="2926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temps réel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92440" y="32918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 par ligne, champ promo, calcul backend (cart.controller).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498080" y="41148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092440" y="4069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aux invités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092440" y="44348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`x-guest-cart-id`, rappel pour créer un compte avant le paiement.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498080" y="52578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92440" y="5212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indispo.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092440" y="55778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dédié, total recalculé, CTA bloqué jusqu’au retrait.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 ·   PARCOURS  ·  PANIER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— étapes 1 &amp; 2 : authentification et adresse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express ou inscription en cours de panier, puis adresse de facturation/livraison.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35758" cy="502920"/>
          </a:xfrm>
          <a:prstGeom prst="roundRect">
            <a:avLst>
              <a:gd name="adj" fmla="val 10909"/>
            </a:avLst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26357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Connexion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67278" y="1691640"/>
            <a:ext cx="2635758" cy="502920"/>
          </a:xfrm>
          <a:prstGeom prst="roundRect">
            <a:avLst>
              <a:gd name="adj" fmla="val 10909"/>
            </a:avLst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67278" y="1691640"/>
            <a:ext cx="26357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Adresse  ●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85916" y="1691640"/>
            <a:ext cx="2635758" cy="502920"/>
          </a:xfrm>
          <a:prstGeom prst="roundRect">
            <a:avLst>
              <a:gd name="adj" fmla="val 10909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85916" y="1691640"/>
            <a:ext cx="26357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Paiement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04554" y="1691640"/>
            <a:ext cx="2635758" cy="502920"/>
          </a:xfrm>
          <a:prstGeom prst="roundRect">
            <a:avLst>
              <a:gd name="adj" fmla="val 10909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4554" y="1691640"/>
            <a:ext cx="26357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Confirmation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553212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331720"/>
            <a:ext cx="544068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  ·   IDENTIFICATION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chemins possibles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85800" y="3337560"/>
            <a:ext cx="365760" cy="36576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36118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Adresses et moyens de paiement préremplis depuis le compte.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" y="4297680"/>
            <a:ext cx="365760" cy="36576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8872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Inscription rapide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572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 directement, le panier est conservé.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365760" cy="36576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8872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invité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88720" y="55321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compte est créé après paiement via un lien dédié, conformément au CDC.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99632" y="2331720"/>
            <a:ext cx="553212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45352" y="2331720"/>
            <a:ext cx="5440680" cy="54864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   ·   ADRESSE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2788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adresse ou carnet existant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400800" y="3337560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92240" y="33375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Prénom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70848" y="3337560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62288" y="333756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3758184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7581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1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070848" y="3758184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62288" y="375818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2 (optionnel)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400800" y="4178808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92240" y="41788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070848" y="4178808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62288" y="41788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Région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00800" y="4599432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92240" y="45994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postal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070848" y="4599432"/>
            <a:ext cx="2423160" cy="329184"/>
          </a:xfrm>
          <a:prstGeom prst="roundRect">
            <a:avLst>
              <a:gd name="adj" fmla="val 16667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62288" y="459943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0800" y="5020056"/>
            <a:ext cx="5074920" cy="329184"/>
          </a:xfrm>
          <a:prstGeom prst="roundRect">
            <a:avLst>
              <a:gd name="adj" fmla="val 16667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92240" y="502005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Téléphone mobile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  ·   PARCOURS  ·  CHECKOUT 1 / 2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— paiement sécurisé Stripe &amp; confirmation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via Stripe Elements (cartes enregistrées ou nouvelle carte), puis facture PDF générée à la volée.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35758" cy="502920"/>
          </a:xfrm>
          <a:prstGeom prst="roundRect">
            <a:avLst>
              <a:gd name="adj" fmla="val 10909"/>
            </a:avLst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91640"/>
            <a:ext cx="26357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Connexion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67278" y="1691640"/>
            <a:ext cx="2635758" cy="502920"/>
          </a:xfrm>
          <a:prstGeom prst="roundRect">
            <a:avLst>
              <a:gd name="adj" fmla="val 10909"/>
            </a:avLst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67278" y="1691640"/>
            <a:ext cx="26357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Adresse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85916" y="1691640"/>
            <a:ext cx="2635758" cy="502920"/>
          </a:xfrm>
          <a:prstGeom prst="roundRect">
            <a:avLst>
              <a:gd name="adj" fmla="val 10909"/>
            </a:avLst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85916" y="1691640"/>
            <a:ext cx="26357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Paiement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04554" y="1691640"/>
            <a:ext cx="2635758" cy="502920"/>
          </a:xfrm>
          <a:prstGeom prst="roundRect">
            <a:avLst>
              <a:gd name="adj" fmla="val 10909"/>
            </a:avLst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004554" y="1691640"/>
            <a:ext cx="26357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Confirmation  ●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553212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331720"/>
            <a:ext cx="544068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   ·   PAIEMENT  ·  STRIPE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788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Cartes enregistrées + Stripe Elements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5166360" cy="502920"/>
          </a:xfrm>
          <a:prstGeom prst="roundRect">
            <a:avLst>
              <a:gd name="adj" fmla="val 10909"/>
            </a:avLst>
          </a:prstGeom>
          <a:solidFill>
            <a:srgbClr val="EAF6F8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375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VISA  ····  4242     Carte par défaut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 ·  saisir une nouvelle carte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5166360" cy="365760"/>
          </a:xfrm>
          <a:prstGeom prst="roundRect">
            <a:avLst>
              <a:gd name="adj" fmla="val 15000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sur la carte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709160"/>
            <a:ext cx="5166360" cy="365760"/>
          </a:xfrm>
          <a:prstGeom prst="roundRect">
            <a:avLst>
              <a:gd name="adj" fmla="val 15000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7091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de carte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5166360"/>
            <a:ext cx="5166360" cy="365760"/>
          </a:xfrm>
          <a:prstGeom prst="roundRect">
            <a:avLst>
              <a:gd name="adj" fmla="val 15000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166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d’expiration   ·   CVV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571500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informations de carte ne transitent jamais par notre serveur (tokenisation Stripe, conformité PCI-DSS).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99632" y="2331720"/>
            <a:ext cx="5532120" cy="3977640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45352" y="2331720"/>
            <a:ext cx="544068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  ·   CONFIRMATION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278892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Récap, e-mail &amp; facture PDF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400800" y="3337560"/>
            <a:ext cx="5074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complet : produits, prix unitaires, taxes, total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de facturation choisie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de paiement (4 derniers chiffres uniquement)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Confirmer l’achat » + e-mail de confirmation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automatique d’une facture téléchargeable au format PDF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d’une facture → avoir créé automatiquement (AVO-YYYYMMDD-XXXX)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  ·   PARCOURS  ·  CHECKOUT 3 / 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commandes — l’archivage côté client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regroupée par année, filtres, recherche, et téléchargement de la facture PDF.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68580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20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COMMANDES  ·  2026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2240280"/>
            <a:ext cx="6492240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#ALT-2026-0421-018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avril 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23317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produit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23360" y="233172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12 480,00 €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32120" y="2423160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BFE3CC"/>
          </a:solidFill>
          <a:ln w="12700">
            <a:solidFill>
              <a:srgbClr val="BFE3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32120" y="24231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29400" y="2423160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4231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04495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#ALT-2026-0418-014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319272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avril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514600" y="30449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produits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23360" y="3044952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26 240,00 €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32120" y="31363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C9C2F0"/>
          </a:solidFill>
          <a:ln w="12700">
            <a:solidFill>
              <a:srgbClr val="C9C2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31363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Expédiée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3136392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3136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375818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#ALT-2026-0410-007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4032504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avril 2026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14600" y="375818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produits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023360" y="3758184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5 940,00 €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532120" y="3849624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BFE0F0"/>
          </a:solidFill>
          <a:ln w="12700">
            <a:solidFill>
              <a:srgbClr val="BFE0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32120" y="38496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29400" y="3849624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384962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47141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#ALT-2026-0402-002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74573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avril 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514600" y="447141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produit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023360" y="447141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1 980,00 €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532120" y="4562856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4DBA7"/>
          </a:solidFill>
          <a:ln w="12700">
            <a:solidFill>
              <a:srgbClr val="F4DB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32120" y="45628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29400" y="4562856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29400" y="456285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0080" y="51846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#ALT-2026-0327-094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54589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mars 2026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514600" y="5184648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produit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023360" y="51846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8 750,00 €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532120" y="5276088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4C8C2"/>
          </a:solidFill>
          <a:ln w="12700">
            <a:solidFill>
              <a:srgbClr val="F4C8C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32120" y="52760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Annulée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629400" y="5276088"/>
            <a:ext cx="457200" cy="274320"/>
          </a:xfrm>
          <a:prstGeom prst="roundRect">
            <a:avLst>
              <a:gd name="adj" fmla="val 13333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29400" y="5276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498080" y="18288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092440" y="1783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Groupement par année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092440" y="21488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Titres principaux par année, ordre chronologique inverse.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498080" y="29718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092440" y="2926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complet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8092440" y="32918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Produit, paiement (last4), adresse, lien facture PDF.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498080" y="41148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49808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092440" y="4069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&amp; recherche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8092440" y="44348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Filtrer par année / type de produit / statut, rechercher par nom ou date.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498080" y="525780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4980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092440" y="521208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Renouveler une commande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8092440" y="5577840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Renouveler la commande » qui re-remplit le panier en un clic.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35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  ·   PARCOURS  ·  HISTORIQUE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&amp; chatbot — un support unifié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classique pour les demandes longues, chatbot LLM pour les réponses instantanées.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321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544068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DE CONTACT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détaillées, accessibles à tous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e-mail (obligatoire)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3044952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44952"/>
            <a:ext cx="4937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client@example.com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465576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Sujet du message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3721608"/>
            <a:ext cx="5120640" cy="384048"/>
          </a:xfrm>
          <a:prstGeom prst="roundRect">
            <a:avLst>
              <a:gd name="adj" fmla="val 14286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21608"/>
            <a:ext cx="493776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sur la commande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142232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du message…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4398264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398264"/>
            <a:ext cx="4937760" cy="13258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Bonjour, je souhaite savoir si…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85216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5852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58521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Centralisé dans le back-office pour le suivi équipe.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99632" y="1783080"/>
            <a:ext cx="55321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45352" y="1783080"/>
            <a:ext cx="5440680" cy="54864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920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 « CONTACT ME » + CHATBOT LLM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2240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instantanées via Ollama llama3.2:3b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00800" y="2788920"/>
            <a:ext cx="3840480" cy="640080"/>
          </a:xfrm>
          <a:prstGeom prst="roundRect">
            <a:avLst>
              <a:gd name="adj" fmla="val 17143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7889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Bonjour ! Comment puis-je vous aider aujourd’hui ?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818120" y="3520440"/>
            <a:ext cx="3840480" cy="548640"/>
          </a:xfrm>
          <a:prstGeom prst="roundRect">
            <a:avLst>
              <a:gd name="adj" fmla="val 20000"/>
            </a:avLst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3520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modifier mon adresse ?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0" y="4160520"/>
            <a:ext cx="5120640" cy="777240"/>
          </a:xfrm>
          <a:prstGeom prst="roundRect">
            <a:avLst>
              <a:gd name="adj" fmla="val 14118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16052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pouvez modifier vos adresses depuis Mon compte › Paramètres › Carnet d’adresses.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00800" y="507492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Escalade vers un humain si le bot ne sait pas répondre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e-mail + sujet pour accélérer le suivi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conversations stockées et accessibles dans le back-office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  ·   PARCOURS  ·  SUPPORT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356970"/>
            <a:ext cx="2377440" cy="760781"/>
          </a:xfrm>
          <a:prstGeom prst="roundRect">
            <a:avLst>
              <a:gd name="adj" fmla="val 4808"/>
            </a:avLst>
          </a:prstGeom>
          <a:solidFill>
            <a:srgbClr val="00A8B5">
              <a:alpha val="16000"/>
            </a:srgbClr>
          </a:solidFill>
          <a:ln w="12700">
            <a:solidFill>
              <a:srgbClr val="00A8B5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26650" y="548640"/>
            <a:ext cx="760781" cy="2377440"/>
          </a:xfrm>
          <a:prstGeom prst="roundRect">
            <a:avLst>
              <a:gd name="adj" fmla="val 4808"/>
            </a:avLst>
          </a:prstGeom>
          <a:solidFill>
            <a:srgbClr val="00A8B5">
              <a:alpha val="16000"/>
            </a:srgbClr>
          </a:solidFill>
          <a:ln w="12700">
            <a:solidFill>
              <a:srgbClr val="00A8B5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4550054"/>
            <a:ext cx="1280160" cy="409651"/>
          </a:xfrm>
          <a:prstGeom prst="roundRect">
            <a:avLst>
              <a:gd name="adj" fmla="val 8929"/>
            </a:avLst>
          </a:prstGeom>
          <a:solidFill>
            <a:srgbClr val="33BFC9">
              <a:alpha val="20000"/>
            </a:srgbClr>
          </a:solidFill>
          <a:ln w="12700">
            <a:solidFill>
              <a:srgbClr val="33BFC9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50854" y="4114800"/>
            <a:ext cx="409651" cy="1280160"/>
          </a:xfrm>
          <a:prstGeom prst="roundRect">
            <a:avLst>
              <a:gd name="adj" fmla="val 8929"/>
            </a:avLst>
          </a:prstGeom>
          <a:solidFill>
            <a:srgbClr val="33BFC9">
              <a:alpha val="20000"/>
            </a:srgbClr>
          </a:solidFill>
          <a:ln w="12700">
            <a:solidFill>
              <a:srgbClr val="33BFC9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2000" b="1" dirty="0">
                <a:solidFill>
                  <a:srgbClr val="0B4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1097280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4   ·   BACK-OFFICE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outils internes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5577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de bord, CRUD complets, gestion des contenus, des commandes, des factures et des utilisateurs.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1F4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— les indicateurs clés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vue d’ensemble en quelques secondes : CA, commandes, alertes stock, messages, ventes par catégorie.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260604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476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DU JOUR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12 480 €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377440" y="1965960"/>
            <a:ext cx="502920" cy="50292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19272" y="178308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64992" y="1783080"/>
            <a:ext cx="2606040" cy="54864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19476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02152" y="2240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239512" y="1965960"/>
            <a:ext cx="502920" cy="502920"/>
          </a:xfrm>
          <a:prstGeom prst="ellipse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3951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81344" y="178308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27064" y="1783080"/>
            <a:ext cx="260604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19476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64224" y="2240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8101584" y="196596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01584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043416" y="1783080"/>
            <a:ext cx="26974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89136" y="1783080"/>
            <a:ext cx="26060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26296" y="194767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226296" y="22402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10963656" y="196596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63656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337560"/>
            <a:ext cx="7315200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383280"/>
            <a:ext cx="54864" cy="288036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4564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 PAR CATÉGORIE   ·   7 DERNIERS JOURS</a:t>
            </a:r>
            <a:endParaRPr lang="en-US" sz="900" dirty="0"/>
          </a:p>
        </p:txBody>
      </p:sp>
      <p:graphicFrame>
        <p:nvGraphicFramePr>
          <p:cNvPr id="31" name="Chart 0" descr=""/>
          <p:cNvGraphicFramePr/>
          <p:nvPr/>
        </p:nvGraphicFramePr>
        <p:xfrm>
          <a:off x="640080" y="3749040"/>
          <a:ext cx="69494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Shape 29"/>
          <p:cNvSpPr/>
          <p:nvPr/>
        </p:nvSpPr>
        <p:spPr>
          <a:xfrm>
            <a:off x="7909560" y="3337560"/>
            <a:ext cx="3822192" cy="2971800"/>
          </a:xfrm>
          <a:prstGeom prst="roundRect">
            <a:avLst>
              <a:gd name="adj" fmla="val 1846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909560" y="3383280"/>
            <a:ext cx="54864" cy="2880360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92440" y="3456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RAPIDES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092440" y="3840480"/>
            <a:ext cx="3456432" cy="548640"/>
          </a:xfrm>
          <a:prstGeom prst="roundRect">
            <a:avLst>
              <a:gd name="adj" fmla="val 13333"/>
            </a:avLst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092440" y="3840480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Nouvelle commande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8092440" y="4553712"/>
            <a:ext cx="3456432" cy="548640"/>
          </a:xfrm>
          <a:prstGeom prst="roundRect">
            <a:avLst>
              <a:gd name="adj" fmla="val 13333"/>
            </a:avLst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092440" y="4553712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Ajouter un produit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8092440" y="5266944"/>
            <a:ext cx="3456432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092440" y="5266944"/>
            <a:ext cx="3456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les messages (8)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35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  ·   BACK-OFFICE  · 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produits — le tableau du catalogue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tableau riche (image, nom, catégorie, HT, TVA, TTC, stock, statut…), tri, filtres et actions groupées.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77295" cy="370332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11094415" cy="36576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23444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 du produit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348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46520" y="1874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52360" y="187452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TTC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418320" y="18745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33272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377440"/>
            <a:ext cx="365760" cy="320040"/>
          </a:xfrm>
          <a:prstGeom prst="roundRect">
            <a:avLst>
              <a:gd name="adj" fmla="val 11429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ALT-CT-500  ·  Scanner CT mobile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34840" y="22860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Imagerie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46520" y="228600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10 400,00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52360" y="22860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22860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12 480,00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418320" y="22860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0332720" y="240487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32720" y="2404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Publié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48640" y="2788920"/>
            <a:ext cx="11094415" cy="50292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2880360"/>
            <a:ext cx="365760" cy="320040"/>
          </a:xfrm>
          <a:prstGeom prst="roundRect">
            <a:avLst>
              <a:gd name="adj" fmla="val 11429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2788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ALT-MON-200  ·  Moniteur multiparam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434840" y="27889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2788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1 650,00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452360" y="278892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27889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1 980,00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418320" y="2788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0332720" y="290779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32720" y="29077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Publié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" y="3383280"/>
            <a:ext cx="365760" cy="320040"/>
          </a:xfrm>
          <a:prstGeom prst="roundRect">
            <a:avLst>
              <a:gd name="adj" fmla="val 11429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34440" y="3291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ALT-BLOC-900  ·  Table opératoire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434840" y="3291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opér.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329184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7 291,67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52360" y="329184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3291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8 750,00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418320" y="32918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332720" y="341071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332720" y="34107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48640" y="3794760"/>
            <a:ext cx="11094415" cy="50292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0080" y="3886200"/>
            <a:ext cx="365760" cy="320040"/>
          </a:xfrm>
          <a:prstGeom prst="roundRect">
            <a:avLst>
              <a:gd name="adj" fmla="val 11429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34440" y="3794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ALT-IMG-410  ·  Échographe portable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434840" y="37947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Imagerie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46520" y="3794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5 833,33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452360" y="379476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229600" y="37947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7 000,00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418320" y="3794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332720" y="391363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332720" y="39136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Publié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40080" y="4389120"/>
            <a:ext cx="365760" cy="320040"/>
          </a:xfrm>
          <a:prstGeom prst="roundRect">
            <a:avLst>
              <a:gd name="adj" fmla="val 11429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234440" y="4297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ALT-DGN-022  ·  Stéthoscope digital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434840" y="42976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Soins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446520" y="4297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499,17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7452360" y="429768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20 %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229600" y="42976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599,00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9418320" y="4297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10332720" y="44165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332720" y="44165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" y="5577840"/>
            <a:ext cx="3703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57200" y="5623560"/>
            <a:ext cx="54864" cy="68580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21792" y="56235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21792" y="590702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Lister, voir, créer, modifier, supprimer (avec confirmation), slug SEO personnalisé.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343400" y="5577840"/>
            <a:ext cx="3703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343400" y="5623560"/>
            <a:ext cx="54864" cy="68580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507992" y="56235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/ filtres / recherche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507992" y="590702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colonnes triables, filtres par catégorie / statut / dispo, recherche globale.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229600" y="5577840"/>
            <a:ext cx="3703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8229600" y="5623560"/>
            <a:ext cx="54864" cy="68580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394192" y="56235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&amp; export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394192" y="590702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50 / 100 produits par page, export CSV/Excel pour analyse externe.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35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  ·   BACK-OFFICE  ·  PRODUITS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Contenus de l’accueil &amp; catégories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carrousel de la home et les rayons du site sont entièrement éditables depuis le back-office.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321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544068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CARROUSEL D’ACCUEIL  ·  3 SLIDES MAX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 complète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00A8B5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432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834640"/>
            <a:ext cx="914400" cy="228600"/>
          </a:xfrm>
          <a:prstGeom prst="roundRect">
            <a:avLst>
              <a:gd name="adj" fmla="val 48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Principal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31720" y="274320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33BFC9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27432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023360" y="2743200"/>
            <a:ext cx="1600200" cy="1005840"/>
          </a:xfrm>
          <a:prstGeom prst="roundRect">
            <a:avLst>
              <a:gd name="adj" fmla="val 5455"/>
            </a:avLst>
          </a:prstGeom>
          <a:solidFill>
            <a:srgbClr val="33BFC9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0" y="27432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51206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multiple en drag &amp; drop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Réorganisation glisser-déposer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l’image principale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individuelle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de redirection par slide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fixe éditable sous le carrousel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9632" y="1783080"/>
            <a:ext cx="55321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45352" y="1783080"/>
            <a:ext cx="5440680" cy="54864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CATÉGORIES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2402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hiérarchique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0" y="2788920"/>
            <a:ext cx="5074920" cy="310896"/>
          </a:xfrm>
          <a:prstGeom prst="roundRect">
            <a:avLst>
              <a:gd name="adj" fmla="val 14706"/>
            </a:avLst>
          </a:prstGeom>
          <a:solidFill>
            <a:srgbClr val="F5FAFB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7889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⋮⋮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278892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Imagerie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35440" y="278892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produits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698480" y="280720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698480" y="280720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3172968"/>
            <a:ext cx="50749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1729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⋮⋮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12280" y="317296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 opératoire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235440" y="3172968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produits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698480" y="3191256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698480" y="3191256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400800" y="3557016"/>
            <a:ext cx="5074920" cy="310896"/>
          </a:xfrm>
          <a:prstGeom prst="roundRect">
            <a:avLst>
              <a:gd name="adj" fmla="val 14706"/>
            </a:avLst>
          </a:prstGeom>
          <a:solidFill>
            <a:srgbClr val="F5FAFB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3557016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⋮⋮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12280" y="355701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Soins &amp; monitoring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35440" y="35570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produits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0698480" y="3575304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698480" y="357530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0" y="3941064"/>
            <a:ext cx="5074920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394106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⋮⋮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812280" y="39410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Mobilier médical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235440" y="394106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produits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10698480" y="3959352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98480" y="395935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45262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Image, nom, description, statut, ordre, slug SEO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par formulaire, drag &amp; drop pour réordonner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/ désactivation en masse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35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  ·   BACK-OFFICE  ·  CONTENUS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commandes — du paiement à la livraison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filtrable, statuts colorés, historique horodaté de chaque changement.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77295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" cy="16916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DE VIE D’UNE COMMANDE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240280"/>
            <a:ext cx="2121408" cy="1188720"/>
          </a:xfrm>
          <a:prstGeom prst="roundRect">
            <a:avLst>
              <a:gd name="adj" fmla="val 461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317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 créée, paiement en attente Stripe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15768" y="2240280"/>
            <a:ext cx="137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52928" y="2240280"/>
            <a:ext cx="2121408" cy="1188720"/>
          </a:xfrm>
          <a:prstGeom prst="roundRect">
            <a:avLst>
              <a:gd name="adj" fmla="val 4615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44368" y="23317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cours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44368" y="27432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validé, traitement interne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28616" y="2240280"/>
            <a:ext cx="137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065776" y="2240280"/>
            <a:ext cx="2121408" cy="1188720"/>
          </a:xfrm>
          <a:prstGeom prst="roundRect">
            <a:avLst>
              <a:gd name="adj" fmla="val 4615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57216" y="23317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Expédiée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157216" y="27432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Colis remis au transporteur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141464" y="2240280"/>
            <a:ext cx="137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278624" y="2240280"/>
            <a:ext cx="2121408" cy="1188720"/>
          </a:xfrm>
          <a:prstGeom prst="roundRect">
            <a:avLst>
              <a:gd name="adj" fmla="val 4615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70064" y="23317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70064" y="27432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Réceptionnée par le client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54312" y="2240280"/>
            <a:ext cx="137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9491472" y="2240280"/>
            <a:ext cx="2121408" cy="1188720"/>
          </a:xfrm>
          <a:prstGeom prst="roundRect">
            <a:avLst>
              <a:gd name="adj" fmla="val 4615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82912" y="2331720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Annulée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82912" y="27432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Annulée ou remboursée → avoir auto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37033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3703320"/>
            <a:ext cx="3611880" cy="54864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8862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riche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800" y="43891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commande, date+heure, client, montant TTC, statut, mode paiement, statut paiement. Tri et filtres sur toutes les colonnes.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343400" y="3703320"/>
            <a:ext cx="37033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9120" y="3703320"/>
            <a:ext cx="3611880" cy="54864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38862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&amp; historique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572000" y="43891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modifiable, historique horodaté avec utilisateur, badges paiement (Validé / En attente / Échoué / Remboursé).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229600" y="3703320"/>
            <a:ext cx="37033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275320" y="3703320"/>
            <a:ext cx="3611880" cy="54864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58200" y="38862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&amp; export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458200" y="43891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par n° de commande ou client, export CSV/Excel des commandes filtrées.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  ·   BACK-OFFICE  ·  COMMANDES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Factures &amp; avoirs — facturation conforme et automatique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PDF, modification tracée, création automatique d’avoirs en cas d’annulation.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321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544068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FACTURE  →  AVOIR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411480" cy="41148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auto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5968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généré à la validation du paiement, format INV-YYYYMMDD-XXXX, PDF généré à la volée.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337560"/>
            <a:ext cx="411480" cy="41148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3291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&amp; e-mail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60273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disponible côté client et côté admin, renvoi par e-mail au client en un clic.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411480" cy="41148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43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4297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460857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dédié côté admin, traçabilité complète des opérations.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411480" cy="41148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349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88720" y="5303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 →  avoir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561441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d’une facture → avoir automatique, format AVO-YYYYMMDD-XXXX, idempotent.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9632" y="1783080"/>
            <a:ext cx="55321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45352" y="1783080"/>
            <a:ext cx="5440680" cy="54864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AVOIRS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0" y="2286000"/>
            <a:ext cx="5120640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2331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N° avoir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18120" y="2331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Facture liée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23544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32720" y="2331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0" y="27432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AVO-2026-0418-002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818120" y="27432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INV-2026-0418-018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235440" y="274320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Hôp. St-Louis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332720" y="274320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−12 480,00 €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0" y="3310128"/>
            <a:ext cx="5120640" cy="566928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0" y="33101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AVO-2026-0410-001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818120" y="331012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INV-2026-0410-014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235440" y="33101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Clinique Ouest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332720" y="33101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−2 940,00 €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38770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AVO-2026-0327-005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818120" y="387705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INV-2026-0327-094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235440" y="3877056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Cab. Dr. Alaoui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332720" y="387705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−8 750,00 €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0" y="4443984"/>
            <a:ext cx="5120640" cy="566928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444398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AVO-2026-0319-003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818120" y="444398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INV-2026-0319-076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235440" y="4443984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 Sud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0332720" y="444398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−1 980,00 €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0" y="5577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disponibles : téléchargement PDF, envoi par e-mail au client.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  ·   BACK-OFFICE  ·  FACTURES &amp; AVOIRS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utilisateurs — comptes et conformité RGPD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complet (8 colonnes), actions administratives sécurisées, suppression conforme RGPD.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11277295" cy="36576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74520"/>
            <a:ext cx="11094415" cy="36576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560320" y="1874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7784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1874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046720" y="1874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Cmds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0" y="18745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total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9966960" y="1874520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conn.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84280" y="1874520"/>
            <a:ext cx="438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Aïcha Karam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2331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aicha.karam@hospitalclient.fr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577840" y="2331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12/03/2026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58000" y="245059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245059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04672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0" y="23317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84 240 €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966960" y="233172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Aujourd’hui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338560" y="233172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⋯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8640" y="2834640"/>
            <a:ext cx="11094415" cy="50292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8346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 Dupond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56032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marc.dupond@cliniqueouest.com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04/02/2026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58000" y="295351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2953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28346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68680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52 110 €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9966960" y="283464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338560" y="283464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⋯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" y="33375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Yael Benhamou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560320" y="3337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yael.benhamou@chusud.fr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77840" y="3337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21/01/2026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858000" y="345643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45643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attente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33375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686800" y="3337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966960" y="33375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1338560" y="333756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⋯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48640" y="3840480"/>
            <a:ext cx="11094415" cy="502920"/>
          </a:xfrm>
          <a:prstGeom prst="rect">
            <a:avLst/>
          </a:prstGeom>
          <a:solidFill>
            <a:srgbClr val="F8FBFC"/>
          </a:solidFill>
          <a:ln w="12700">
            <a:solidFill>
              <a:srgbClr val="F8FB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3840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Karim El Idrissi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560320" y="3840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k.elidrissi@cabmedical.ma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7784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18/12/2025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58000" y="395935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395935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046720" y="38404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686800" y="38404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212 480 €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966960" y="38404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y a 2 j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1338560" y="384048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⋯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0080" y="43434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Levin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560320" y="43434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sarah.l@example.com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577840" y="4343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06/11/2025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858000" y="4462272"/>
            <a:ext cx="1005840" cy="29260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44622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Désactivé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046720" y="43434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686800" y="4343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8 740 €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966960" y="43434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y a 12 j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1338560" y="4343400"/>
            <a:ext cx="438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⋯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457200" y="5577840"/>
            <a:ext cx="11277295" cy="777240"/>
          </a:xfrm>
          <a:prstGeom prst="roundRect">
            <a:avLst>
              <a:gd name="adj" fmla="val 7059"/>
            </a:avLst>
          </a:prstGeom>
          <a:solidFill>
            <a:srgbClr val="EAF6F8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457200" y="5623560"/>
            <a:ext cx="54864" cy="68580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" y="5650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ADMINISTRATIVES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0080" y="5943600"/>
            <a:ext cx="2650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A8B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5943600"/>
            <a:ext cx="265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Réinitialiser MDP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3454832" y="5943600"/>
            <a:ext cx="2650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A8B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454832" y="5943600"/>
            <a:ext cx="265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Désactiver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269584" y="5943600"/>
            <a:ext cx="2650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A8B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69584" y="5943600"/>
            <a:ext cx="265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Supprimer (RGPD)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9084335" y="5943600"/>
            <a:ext cx="265016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A8B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084335" y="5943600"/>
            <a:ext cx="265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adresses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35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  ·   BACK-OFFICE  ·  UTILISATEURS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0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1356970"/>
            <a:ext cx="2377440" cy="760781"/>
          </a:xfrm>
          <a:prstGeom prst="roundRect">
            <a:avLst>
              <a:gd name="adj" fmla="val 4808"/>
            </a:avLst>
          </a:prstGeom>
          <a:solidFill>
            <a:srgbClr val="00A8B5">
              <a:alpha val="16000"/>
            </a:srgbClr>
          </a:solidFill>
          <a:ln w="12700">
            <a:solidFill>
              <a:srgbClr val="00A8B5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26650" y="548640"/>
            <a:ext cx="760781" cy="2377440"/>
          </a:xfrm>
          <a:prstGeom prst="roundRect">
            <a:avLst>
              <a:gd name="adj" fmla="val 4808"/>
            </a:avLst>
          </a:prstGeom>
          <a:solidFill>
            <a:srgbClr val="00A8B5">
              <a:alpha val="16000"/>
            </a:srgbClr>
          </a:solidFill>
          <a:ln w="12700">
            <a:solidFill>
              <a:srgbClr val="00A8B5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0" y="4550054"/>
            <a:ext cx="1280160" cy="409651"/>
          </a:xfrm>
          <a:prstGeom prst="roundRect">
            <a:avLst>
              <a:gd name="adj" fmla="val 8929"/>
            </a:avLst>
          </a:prstGeom>
          <a:solidFill>
            <a:srgbClr val="33BFC9">
              <a:alpha val="20000"/>
            </a:srgbClr>
          </a:solidFill>
          <a:ln w="12700">
            <a:solidFill>
              <a:srgbClr val="33BFC9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50854" y="4114800"/>
            <a:ext cx="409651" cy="1280160"/>
          </a:xfrm>
          <a:prstGeom prst="roundRect">
            <a:avLst>
              <a:gd name="adj" fmla="val 8929"/>
            </a:avLst>
          </a:prstGeom>
          <a:solidFill>
            <a:srgbClr val="33BFC9">
              <a:alpha val="20000"/>
            </a:srgbClr>
          </a:solidFill>
          <a:ln w="12700">
            <a:solidFill>
              <a:srgbClr val="33BFC9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22000" b="1" dirty="0">
                <a:solidFill>
                  <a:srgbClr val="0B4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1097280" cy="64008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343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CHAPITRE 5   ·   TRANSVERSE &amp; LIVRABLES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Sécurité, i18n, stack &amp; livrables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55778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8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choix qui rendent l’ensemble international, accessible, sûr — et livrable.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1F4F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35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Internationalisation &amp; accessibilité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langues, deux sens d’écriture, conformité WCAG 2.1 — un site qui parle à tous.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55321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544068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Multilingue &amp; RTL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2423160" cy="640080"/>
          </a:xfrm>
          <a:prstGeom prst="roundRect">
            <a:avLst>
              <a:gd name="adj" fmla="val 8571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92608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Français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2588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2834640"/>
            <a:ext cx="2423160" cy="640080"/>
          </a:xfrm>
          <a:prstGeom prst="roundRect">
            <a:avLst>
              <a:gd name="adj" fmla="val 8571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292608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8803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3611880"/>
            <a:ext cx="2423160" cy="640080"/>
          </a:xfrm>
          <a:prstGeom prst="roundRect">
            <a:avLst>
              <a:gd name="adj" fmla="val 8571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70332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2588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العربية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2588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3611880"/>
            <a:ext cx="2423160" cy="640080"/>
          </a:xfrm>
          <a:prstGeom prst="roundRect">
            <a:avLst>
              <a:gd name="adj" fmla="val 8571"/>
            </a:avLst>
          </a:prstGeom>
          <a:solidFill>
            <a:srgbClr val="F5FAFB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3280" y="3703320"/>
            <a:ext cx="457200" cy="457200"/>
          </a:xfrm>
          <a:prstGeom prst="ellipse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931920" y="36576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עברית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31920" y="3931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452628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dans le menu burger (cookie `locale` persisté)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 `dir="rtl"` posé sur `&lt;html&gt;` pour AR / HE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Back-office en anglais pour simplifier la gestion par les admins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99632" y="1783080"/>
            <a:ext cx="55321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45352" y="1783080"/>
            <a:ext cx="5440680" cy="54864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0" y="22402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WCAG 2.1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446520" y="2834640"/>
            <a:ext cx="365760" cy="365760"/>
          </a:xfrm>
          <a:prstGeom prst="ellipse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46520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03720" y="2788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Lecteurs d’écran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903720" y="30815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ARIA sur les composants interactifs, attributs `aria-live` pour les notifications.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46520" y="3657600"/>
            <a:ext cx="365760" cy="365760"/>
          </a:xfrm>
          <a:prstGeom prst="ellipse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4652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03720" y="3611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clavier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03720" y="39044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link, focus visible, focus-trap dans les modales, fermeture par ESC.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46520" y="4480560"/>
            <a:ext cx="365760" cy="365760"/>
          </a:xfrm>
          <a:prstGeom prst="ellipse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4652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6903720" y="44348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Contrastes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03720" y="47274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Palette ajustée pour atteindre les ratios AA sur les CTAs et les badges de statut.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46520" y="5303520"/>
            <a:ext cx="365760" cy="365760"/>
          </a:xfrm>
          <a:prstGeom prst="ellipse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4652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903720" y="5257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03720" y="555040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Erreurs descriptives, `&lt;label&gt;` associés, validation côté client + serveur.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35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  ·   TRANSVERSE  ·  i18n &amp; a11y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— un fil rouge à chaque couche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l’authentification à la facturation, du transport au stockage : six lignes de défense.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7033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361188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965960"/>
            <a:ext cx="594360" cy="594360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2221" y="2230450"/>
            <a:ext cx="261518" cy="179794"/>
          </a:xfrm>
          <a:prstGeom prst="roundRect">
            <a:avLst>
              <a:gd name="adj" fmla="val 18182"/>
            </a:avLst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1449" y="2099691"/>
            <a:ext cx="183063" cy="183063"/>
          </a:xfrm>
          <a:prstGeom prst="ellipse">
            <a:avLst/>
          </a:prstGeom>
          <a:solidFill>
            <a:srgbClr val="D4F4F7"/>
          </a:solidFill>
          <a:ln w="19050">
            <a:solidFill>
              <a:srgbClr val="003D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78373" y="2197760"/>
            <a:ext cx="209215" cy="58842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6828" y="2279485"/>
            <a:ext cx="52304" cy="52304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269748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15 min + refresh 30 j httpOnly + rotation, MFA TOTP côté admin (setup / challenge / verify / disable).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783080"/>
            <a:ext cx="37033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783080"/>
            <a:ext cx="361188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965960"/>
            <a:ext cx="594360" cy="594360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05731" y="2148726"/>
            <a:ext cx="147104" cy="147104"/>
          </a:xfrm>
          <a:prstGeom prst="ellipse">
            <a:avLst/>
          </a:prstGeom>
          <a:solidFill>
            <a:srgbClr val="D4F4F7"/>
          </a:solidFill>
          <a:ln w="31750">
            <a:solidFill>
              <a:srgbClr val="003D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52835" y="2204298"/>
            <a:ext cx="179794" cy="42497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60711" y="2246795"/>
            <a:ext cx="32690" cy="58842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06477" y="2246795"/>
            <a:ext cx="26152" cy="45766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0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0" y="269748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cost 10, vérification de l’ancien à chaque modification sensible.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0" y="1783080"/>
            <a:ext cx="37033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75320" y="1783080"/>
            <a:ext cx="361188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1965960"/>
            <a:ext cx="594360" cy="594360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24621" y="2099691"/>
            <a:ext cx="261518" cy="310553"/>
          </a:xfrm>
          <a:prstGeom prst="diamond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1931" y="2099691"/>
            <a:ext cx="326898" cy="3268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F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89720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&amp; CORS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58200" y="269748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Helmet, ValidationPipe whitelist, CORS via `CORS_ORIGIN`, cookies `secure` en prod.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187952"/>
            <a:ext cx="37033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4187952"/>
            <a:ext cx="361188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4370832"/>
            <a:ext cx="594360" cy="594360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9531" y="4563405"/>
            <a:ext cx="326898" cy="212484"/>
          </a:xfrm>
          <a:prstGeom prst="roundRect">
            <a:avLst>
              <a:gd name="adj" fmla="val 9231"/>
            </a:avLst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35876" y="4609170"/>
            <a:ext cx="294208" cy="32690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2221" y="4684357"/>
            <a:ext cx="58842" cy="52304"/>
          </a:xfrm>
          <a:prstGeom prst="roundRect">
            <a:avLst>
              <a:gd name="adj" fmla="val 34965"/>
            </a:avLst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17320" y="44622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5800" y="5102352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Elements + tokenisation, last4 + brand seuls stockés. Conformité PCI-DSS.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43400" y="4187952"/>
            <a:ext cx="37033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89120" y="4187952"/>
            <a:ext cx="361188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0" y="4370832"/>
            <a:ext cx="594360" cy="594360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38421" y="4520908"/>
            <a:ext cx="245174" cy="300746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71111" y="4602632"/>
            <a:ext cx="179794" cy="19614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71111" y="4661474"/>
            <a:ext cx="179794" cy="19614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71111" y="4720316"/>
            <a:ext cx="179794" cy="19614"/>
          </a:xfrm>
          <a:prstGeom prst="rect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0" y="44622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&amp; CNIL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72000" y="5102352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 compte avec avertissement, export sur demande, mot de passe conforme.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229600" y="4187952"/>
            <a:ext cx="3703320" cy="224028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275320" y="4187952"/>
            <a:ext cx="361188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58200" y="4370832"/>
            <a:ext cx="594360" cy="594360"/>
          </a:xfrm>
          <a:prstGeom prst="ellipse">
            <a:avLst/>
          </a:prstGeom>
          <a:solidFill>
            <a:srgbClr val="D4F4F7"/>
          </a:solidFill>
          <a:ln w="12700">
            <a:solidFill>
              <a:srgbClr val="D4F4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42896" y="4455528"/>
            <a:ext cx="424967" cy="4249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189720" y="44622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TypeORM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458200" y="5102352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Requêtes paramétrées, protection injection SQL, schémas validés par class-validator.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35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  ·   TRANSVERSE  ·  SÉCURITÉ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— une plateforme moderne et typée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Turborepo, Next.js 16 sur le front, NestJS 11 sur le back, deux bases de données spécialisées.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749040" cy="452628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3657600" cy="54864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&amp; back-office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429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Server Components, SSR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3419856"/>
            <a:ext cx="3429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65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37124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Suspense, transitions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4096512"/>
            <a:ext cx="3429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142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partagés via `@bootstrap/types`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4773168"/>
            <a:ext cx="3429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818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5065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 intégrée, classes RTL-aware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" y="5449824"/>
            <a:ext cx="3429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495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next-intl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742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Locales fr · en · ar · he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70832" y="1783080"/>
            <a:ext cx="3749040" cy="4526280"/>
          </a:xfrm>
          <a:prstGeom prst="roundRect">
            <a:avLst>
              <a:gd name="adj" fmla="val 1463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416552" y="1783080"/>
            <a:ext cx="3657600" cy="54864"/>
          </a:xfrm>
          <a:prstGeom prst="rect">
            <a:avLst/>
          </a:prstGeom>
          <a:solidFill>
            <a:srgbClr val="003D5C"/>
          </a:solidFill>
          <a:ln w="12700">
            <a:solidFill>
              <a:srgbClr val="00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53712" y="19202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53712" y="21945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métier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553712" y="2743200"/>
            <a:ext cx="3429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2788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11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90872" y="30358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architecture, modules par feature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53712" y="3419856"/>
            <a:ext cx="3429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34655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TypeORM + Postgres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90872" y="37124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Migrations, repositories typés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553712" y="4096512"/>
            <a:ext cx="3429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90872" y="41422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+ MongoDB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90872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médias (provisionné)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53712" y="4773168"/>
            <a:ext cx="3429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90872" y="4818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Passport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690872" y="5065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+ refresh, gardes RBAC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553712" y="5449824"/>
            <a:ext cx="34290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90872" y="54955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690872" y="57424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`/api/docs`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284464" y="1783080"/>
            <a:ext cx="3447288" cy="4526280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8330184" y="1783080"/>
            <a:ext cx="3355848" cy="54864"/>
          </a:xfrm>
          <a:prstGeom prst="rect">
            <a:avLst/>
          </a:prstGeom>
          <a:solidFill>
            <a:srgbClr val="33BFC9"/>
          </a:solidFill>
          <a:ln w="12700">
            <a:solidFill>
              <a:srgbClr val="33BFC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67344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&amp; INFRA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467344" y="2194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 &amp; outils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67344" y="2743200"/>
            <a:ext cx="3127248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04504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604504" y="30358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Paiement, cartes enregistrées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467344" y="3419856"/>
            <a:ext cx="3127248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604504" y="34655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(llama3.2:3b)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604504" y="37124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LLM auto-hébergé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467344" y="4096512"/>
            <a:ext cx="3127248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04504" y="41422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Nodemailer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604504" y="4389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 transactionnels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8467344" y="4773168"/>
            <a:ext cx="3127248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604504" y="48188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Turborepo + npm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604504" y="50657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Monorepo, build cache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467344" y="5449824"/>
            <a:ext cx="3127248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04504" y="54955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8604504" y="57424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Postgres, Mongo, environnements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35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  ·   TECHNIQUE  ·  STACK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94360"/>
            <a:ext cx="1127729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 — ce qui est remis à Althea Systems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source, documentation technique complète et plan de maintenance, conformément au CDC.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26958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828800"/>
            <a:ext cx="54864" cy="16916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8928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892808"/>
            <a:ext cx="178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Git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313432"/>
            <a:ext cx="237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(apps/web, apps/api, packages partagés), commits conventionnels, tag de version production.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17672" y="1783080"/>
            <a:ext cx="26958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7672" y="1828800"/>
            <a:ext cx="54864" cy="16916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82264" y="18928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94912" y="1892808"/>
            <a:ext cx="178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propre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82264" y="2313432"/>
            <a:ext cx="237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architecture NestJS, principes SOLID, types partagés, lint zéro warning sur le front.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8144" y="1783080"/>
            <a:ext cx="26958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8144" y="1828800"/>
            <a:ext cx="54864" cy="16916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42736" y="18928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55384" y="1892808"/>
            <a:ext cx="178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d’installation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42736" y="2313432"/>
            <a:ext cx="237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docs/INSTALLATION.md  ·  dépendances, environnements, déploiement local &amp; production.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38615" y="1783080"/>
            <a:ext cx="26958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38615" y="1828800"/>
            <a:ext cx="54864" cy="16916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03207" y="18928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815855" y="1892808"/>
            <a:ext cx="178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03207" y="2313432"/>
            <a:ext cx="237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 exposé sur `/api/docs`, documentation Markdown dans docs/API.md.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30752"/>
            <a:ext cx="26958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776472"/>
            <a:ext cx="54864" cy="16916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3840480"/>
            <a:ext cx="178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code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" y="4261104"/>
            <a:ext cx="237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docs/CODE_STRUCTURE.md + docs/ARCHITECTURE.md  ·  composants, modules, flux de données.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317672" y="3730752"/>
            <a:ext cx="26958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317672" y="3776472"/>
            <a:ext cx="54864" cy="16916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82264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094912" y="3840480"/>
            <a:ext cx="178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DCT complet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82264" y="4261104"/>
            <a:ext cx="237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docs/DCT.md  ·  architecture système, diagrammes, choix techno, sécurité, maintenance.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8144" y="3730752"/>
            <a:ext cx="26958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78144" y="3776472"/>
            <a:ext cx="54864" cy="16916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42736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55384" y="3840480"/>
            <a:ext cx="178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tests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42736" y="4261104"/>
            <a:ext cx="237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docs/TESTING.md  ·  Jest pour l’API, stratégie front, playwright en backlog.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038615" y="3730752"/>
            <a:ext cx="269588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038615" y="3776472"/>
            <a:ext cx="54864" cy="16916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203207" y="3840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815855" y="3840480"/>
            <a:ext cx="178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&amp; sprints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203207" y="4261104"/>
            <a:ext cx="2375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docs/DELIVERABLES.md  ·  9 sprints retracés, audit de conformité dans docs/audit.md.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5760720"/>
            <a:ext cx="11277295" cy="594360"/>
          </a:xfrm>
          <a:prstGeom prst="roundRect">
            <a:avLst>
              <a:gd name="adj" fmla="val 9231"/>
            </a:avLst>
          </a:prstGeom>
          <a:solidFill>
            <a:srgbClr val="EAF8EF"/>
          </a:solidFill>
          <a:ln w="635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12700" dir="5400000">
              <a:srgbClr val="BFCBD3">
                <a:alpha val="2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" y="5806440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76072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de conformité (docs/audit.md) — 80 % d’exigences entièrement implémentées, 19 % partielles, 1 % en backlog.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9525">
            <a:solidFill>
              <a:srgbClr val="E2E8E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 •   Bachelor CPI 2025-2026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820095" y="65105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35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" y="320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00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  ·   LIVRABLES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86230"/>
            <a:ext cx="2194560" cy="702259"/>
          </a:xfrm>
          <a:prstGeom prst="roundRect">
            <a:avLst>
              <a:gd name="adj" fmla="val 5208"/>
            </a:avLst>
          </a:prstGeom>
          <a:solidFill>
            <a:srgbClr val="00A8B5">
              <a:alpha val="16000"/>
            </a:srgbClr>
          </a:solidFill>
          <a:ln w="12700">
            <a:solidFill>
              <a:srgbClr val="00A8B5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94790" y="640080"/>
            <a:ext cx="702259" cy="2194560"/>
          </a:xfrm>
          <a:prstGeom prst="roundRect">
            <a:avLst>
              <a:gd name="adj" fmla="val 5208"/>
            </a:avLst>
          </a:prstGeom>
          <a:solidFill>
            <a:srgbClr val="00A8B5">
              <a:alpha val="16000"/>
            </a:srgbClr>
          </a:solidFill>
          <a:ln w="12700">
            <a:solidFill>
              <a:srgbClr val="00A8B5">
                <a:alpha val="16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0" y="4703674"/>
            <a:ext cx="1463040" cy="468173"/>
          </a:xfrm>
          <a:prstGeom prst="roundRect">
            <a:avLst>
              <a:gd name="adj" fmla="val 7812"/>
            </a:avLst>
          </a:prstGeom>
          <a:solidFill>
            <a:srgbClr val="33BFC9">
              <a:alpha val="20000"/>
            </a:srgbClr>
          </a:solidFill>
          <a:ln w="12700">
            <a:solidFill>
              <a:srgbClr val="33BFC9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21594" y="4206240"/>
            <a:ext cx="468173" cy="1463040"/>
          </a:xfrm>
          <a:prstGeom prst="roundRect">
            <a:avLst>
              <a:gd name="adj" fmla="val 7812"/>
            </a:avLst>
          </a:prstGeom>
          <a:solidFill>
            <a:srgbClr val="33BFC9">
              <a:alpha val="20000"/>
            </a:srgbClr>
          </a:solidFill>
          <a:ln w="12700">
            <a:solidFill>
              <a:srgbClr val="33BFC9">
                <a:alpha val="2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1225296"/>
            <a:ext cx="914400" cy="292608"/>
          </a:xfrm>
          <a:prstGeom prst="roundRect">
            <a:avLst>
              <a:gd name="adj" fmla="val 12500"/>
            </a:avLst>
          </a:prstGeom>
          <a:solidFill>
            <a:srgbClr val="00A8B5">
              <a:alpha val="15000"/>
            </a:srgbClr>
          </a:solidFill>
          <a:ln w="12700">
            <a:solidFill>
              <a:srgbClr val="00A8B5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97696" y="914400"/>
            <a:ext cx="292608" cy="914400"/>
          </a:xfrm>
          <a:prstGeom prst="roundRect">
            <a:avLst>
              <a:gd name="adj" fmla="val 12500"/>
            </a:avLst>
          </a:prstGeom>
          <a:solidFill>
            <a:srgbClr val="00A8B5">
              <a:alpha val="15000"/>
            </a:srgbClr>
          </a:solidFill>
          <a:ln w="12700">
            <a:solidFill>
              <a:srgbClr val="00A8B5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86000"/>
            <a:ext cx="64008" cy="1463040"/>
          </a:xfrm>
          <a:prstGeom prst="rect">
            <a:avLst/>
          </a:prstGeom>
          <a:solidFill>
            <a:srgbClr val="00A8B5"/>
          </a:solidFill>
          <a:ln w="12700">
            <a:solidFill>
              <a:srgbClr val="00A8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86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ALTHEA SYSTEMS  ·  ASO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0604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Merci.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77724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8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échanges, démonstration en direct.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5029200"/>
            <a:ext cx="1746504" cy="365760"/>
          </a:xfrm>
          <a:prstGeom prst="roundRect">
            <a:avLst>
              <a:gd name="adj" fmla="val 50000"/>
            </a:avLst>
          </a:prstGeom>
          <a:solidFill>
            <a:srgbClr val="0B486B"/>
          </a:solidFill>
          <a:ln w="9525">
            <a:solidFill>
              <a:srgbClr val="00A8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0292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docs/audit.md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88336" y="5029200"/>
            <a:ext cx="1527048" cy="365760"/>
          </a:xfrm>
          <a:prstGeom prst="roundRect">
            <a:avLst>
              <a:gd name="adj" fmla="val 50000"/>
            </a:avLst>
          </a:prstGeom>
          <a:solidFill>
            <a:srgbClr val="0B486B"/>
          </a:solidFill>
          <a:ln w="9525">
            <a:solidFill>
              <a:srgbClr val="00A8B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88336" y="5029200"/>
            <a:ext cx="152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docs/DCT.md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79976" y="5029200"/>
            <a:ext cx="2514600" cy="365760"/>
          </a:xfrm>
          <a:prstGeom prst="roundRect">
            <a:avLst>
              <a:gd name="adj" fmla="val 50000"/>
            </a:avLst>
          </a:prstGeom>
          <a:solidFill>
            <a:srgbClr val="0B486B"/>
          </a:solidFill>
          <a:ln w="9525">
            <a:solidFill>
              <a:srgbClr val="00A8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9976" y="5029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docs/INSTALLATION.md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059168" y="5029200"/>
            <a:ext cx="2185416" cy="365760"/>
          </a:xfrm>
          <a:prstGeom prst="roundRect">
            <a:avLst>
              <a:gd name="adj" fmla="val 50000"/>
            </a:avLst>
          </a:prstGeom>
          <a:solidFill>
            <a:srgbClr val="0B486B"/>
          </a:solidFill>
          <a:ln w="9525">
            <a:solidFill>
              <a:srgbClr val="00A8B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59168" y="502920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B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/api/docs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e-commerce  ·  Bachelor CPI 2025-2026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820095" y="6355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Althea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Althea Systems — Support de présentation v2</dc:title>
  <dc:subject>Plateforme e-commerce — Bachelor CPI 2025-2026</dc:subject>
  <dc:creator>PptxGenJS</dc:creator>
  <cp:lastModifiedBy>PptxGenJS</cp:lastModifiedBy>
  <cp:revision>1</cp:revision>
  <dcterms:created xsi:type="dcterms:W3CDTF">2026-04-26T18:43:39Z</dcterms:created>
  <dcterms:modified xsi:type="dcterms:W3CDTF">2026-04-26T18:43:39Z</dcterms:modified>
</cp:coreProperties>
</file>